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8"/>
  </p:notesMasterIdLst>
  <p:sldIdLst>
    <p:sldId id="256" r:id="rId5"/>
    <p:sldId id="257" r:id="rId6"/>
    <p:sldId id="259" r:id="rId7"/>
    <p:sldId id="268" r:id="rId8"/>
    <p:sldId id="267" r:id="rId9"/>
    <p:sldId id="261" r:id="rId10"/>
    <p:sldId id="262" r:id="rId11"/>
    <p:sldId id="260" r:id="rId12"/>
    <p:sldId id="263" r:id="rId13"/>
    <p:sldId id="264" r:id="rId14"/>
    <p:sldId id="265" r:id="rId15"/>
    <p:sldId id="258" r:id="rId16"/>
    <p:sldId id="266" r:id="rId17"/>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32CBEA-1738-4838-9F61-97C129F71AFC}" v="2674" dt="2026-02-20T01:01:05.366"/>
    <p1510:client id="{C20D95A6-13AD-4737-FB7B-C344C1CFF6F9}" v="372" dt="2026-02-20T00:56:50.3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80905" autoAdjust="0"/>
  </p:normalViewPr>
  <p:slideViewPr>
    <p:cSldViewPr snapToGrid="0">
      <p:cViewPr varScale="1">
        <p:scale>
          <a:sx n="129" d="100"/>
          <a:sy n="129" d="100"/>
        </p:scale>
        <p:origin x="1464"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368890-AEC4-4094-920B-7E5FC81B5C70}" type="datetimeFigureOut">
              <a:rPr lang="de-DE" smtClean="0"/>
              <a:t>19.02.2026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4E03C9-788E-4984-A178-66DB793E0813}" type="slidenum">
              <a:rPr lang="de-DE" smtClean="0"/>
              <a:t>‹Nr.›</a:t>
            </a:fld>
            <a:endParaRPr lang="de-DE"/>
          </a:p>
        </p:txBody>
      </p:sp>
    </p:spTree>
    <p:extLst>
      <p:ext uri="{BB962C8B-B14F-4D97-AF65-F5344CB8AC3E}">
        <p14:creationId xmlns:p14="http://schemas.microsoft.com/office/powerpoint/2010/main" val="21372674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054E03C9-788E-4984-A178-66DB793E0813}" type="slidenum">
              <a:rPr lang="de-DE" smtClean="0"/>
              <a:t>1</a:t>
            </a:fld>
            <a:endParaRPr lang="de-DE"/>
          </a:p>
        </p:txBody>
      </p:sp>
    </p:spTree>
    <p:extLst>
      <p:ext uri="{BB962C8B-B14F-4D97-AF65-F5344CB8AC3E}">
        <p14:creationId xmlns:p14="http://schemas.microsoft.com/office/powerpoint/2010/main" val="33085066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054E03C9-788E-4984-A178-66DB793E0813}" type="slidenum">
              <a:rPr lang="de-DE" smtClean="0"/>
              <a:t>2</a:t>
            </a:fld>
            <a:endParaRPr lang="de-DE"/>
          </a:p>
        </p:txBody>
      </p:sp>
    </p:spTree>
    <p:extLst>
      <p:ext uri="{BB962C8B-B14F-4D97-AF65-F5344CB8AC3E}">
        <p14:creationId xmlns:p14="http://schemas.microsoft.com/office/powerpoint/2010/main" val="13530782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latin typeface="Calibri"/>
                <a:ea typeface="Calibri"/>
                <a:cs typeface="Calibri"/>
              </a:rPr>
              <a:t>Schauen wir uns zum Beispiel einen der Shader an. Hier zu sehen ist der </a:t>
            </a:r>
            <a:r>
              <a:rPr lang="de-DE" err="1">
                <a:latin typeface="Calibri"/>
                <a:ea typeface="Calibri"/>
                <a:cs typeface="Calibri"/>
              </a:rPr>
              <a:t>shader</a:t>
            </a:r>
            <a:r>
              <a:rPr lang="de-DE">
                <a:latin typeface="Calibri"/>
                <a:ea typeface="Calibri"/>
                <a:cs typeface="Calibri"/>
              </a:rPr>
              <a:t> welcher angewandt wird wenn die Gesundheit des Spielers zu gering ist. Dafür haben wir eine Textur erstellt (Hier als die Variable SCREEN_TEXTURE), welche auf das Hintergrundbild angewandt werden soll. Das geschieht mittels der </a:t>
            </a:r>
            <a:r>
              <a:rPr lang="de-DE" err="1">
                <a:latin typeface="Calibri"/>
                <a:ea typeface="Calibri"/>
                <a:cs typeface="Calibri"/>
              </a:rPr>
              <a:t>hard_light</a:t>
            </a:r>
            <a:r>
              <a:rPr lang="de-DE">
                <a:latin typeface="Calibri"/>
                <a:ea typeface="Calibri"/>
                <a:cs typeface="Calibri"/>
              </a:rPr>
              <a:t> </a:t>
            </a:r>
            <a:r>
              <a:rPr lang="de-DE" err="1">
                <a:latin typeface="Calibri"/>
                <a:ea typeface="Calibri"/>
                <a:cs typeface="Calibri"/>
              </a:rPr>
              <a:t>funktion</a:t>
            </a:r>
            <a:r>
              <a:rPr lang="de-DE">
                <a:latin typeface="Calibri"/>
                <a:ea typeface="Calibri"/>
                <a:cs typeface="Calibri"/>
              </a:rPr>
              <a:t>, welche Mathematisch identische zu dem </a:t>
            </a:r>
            <a:r>
              <a:rPr lang="de-DE" err="1">
                <a:latin typeface="Calibri"/>
                <a:ea typeface="Calibri"/>
                <a:cs typeface="Calibri"/>
              </a:rPr>
              <a:t>hard</a:t>
            </a:r>
            <a:r>
              <a:rPr lang="de-DE">
                <a:latin typeface="Calibri"/>
                <a:ea typeface="Calibri"/>
                <a:cs typeface="Calibri"/>
              </a:rPr>
              <a:t> light </a:t>
            </a:r>
            <a:r>
              <a:rPr lang="de-DE" err="1">
                <a:latin typeface="Calibri"/>
                <a:ea typeface="Calibri"/>
                <a:cs typeface="Calibri"/>
              </a:rPr>
              <a:t>Ebenenmodus</a:t>
            </a:r>
            <a:r>
              <a:rPr lang="de-DE">
                <a:latin typeface="Calibri"/>
                <a:ea typeface="Calibri"/>
                <a:cs typeface="Calibri"/>
              </a:rPr>
              <a:t> in </a:t>
            </a:r>
            <a:r>
              <a:rPr lang="de-DE" err="1">
                <a:latin typeface="Calibri"/>
                <a:ea typeface="Calibri"/>
                <a:cs typeface="Calibri"/>
              </a:rPr>
              <a:t>Bildbearbeitungs</a:t>
            </a:r>
            <a:r>
              <a:rPr lang="de-DE">
                <a:latin typeface="Calibri"/>
                <a:ea typeface="Calibri"/>
                <a:cs typeface="Calibri"/>
              </a:rPr>
              <a:t> Programmen wie </a:t>
            </a:r>
            <a:r>
              <a:rPr lang="de-DE" err="1">
                <a:latin typeface="Calibri"/>
                <a:ea typeface="Calibri"/>
                <a:cs typeface="Calibri"/>
              </a:rPr>
              <a:t>zB</a:t>
            </a:r>
            <a:r>
              <a:rPr lang="de-DE">
                <a:latin typeface="Calibri"/>
                <a:ea typeface="Calibri"/>
                <a:cs typeface="Calibri"/>
              </a:rPr>
              <a:t>. Photoshop aufgebaut ist. "</a:t>
            </a:r>
            <a:r>
              <a:rPr lang="de-DE" err="1">
                <a:latin typeface="Calibri"/>
                <a:ea typeface="Calibri"/>
                <a:cs typeface="Calibri"/>
              </a:rPr>
              <a:t>bg_color</a:t>
            </a:r>
            <a:r>
              <a:rPr lang="de-DE">
                <a:latin typeface="Calibri"/>
                <a:ea typeface="Calibri"/>
                <a:cs typeface="Calibri"/>
              </a:rPr>
              <a:t>" ist in diesem fall der Hintergrund auf welcher die Textur dann in </a:t>
            </a:r>
            <a:r>
              <a:rPr lang="de-DE" err="1">
                <a:latin typeface="Calibri"/>
                <a:ea typeface="Calibri"/>
                <a:cs typeface="Calibri"/>
              </a:rPr>
              <a:t>zeile</a:t>
            </a:r>
            <a:r>
              <a:rPr lang="de-DE">
                <a:latin typeface="Calibri"/>
                <a:ea typeface="Calibri"/>
                <a:cs typeface="Calibri"/>
              </a:rPr>
              <a:t> 13 angewendet wird zusammen mit der "</a:t>
            </a:r>
            <a:r>
              <a:rPr lang="de-DE" err="1">
                <a:latin typeface="Calibri"/>
                <a:ea typeface="Calibri"/>
                <a:cs typeface="Calibri"/>
              </a:rPr>
              <a:t>intensity</a:t>
            </a:r>
            <a:r>
              <a:rPr lang="de-DE">
                <a:latin typeface="Calibri"/>
                <a:ea typeface="Calibri"/>
                <a:cs typeface="Calibri"/>
              </a:rPr>
              <a:t>" variable. Im normalen Code wird dann auf die "</a:t>
            </a:r>
            <a:r>
              <a:rPr lang="de-DE" err="1">
                <a:latin typeface="Calibri"/>
                <a:ea typeface="Calibri"/>
                <a:cs typeface="Calibri"/>
              </a:rPr>
              <a:t>intensity</a:t>
            </a:r>
            <a:r>
              <a:rPr lang="de-DE">
                <a:latin typeface="Calibri"/>
                <a:ea typeface="Calibri"/>
                <a:cs typeface="Calibri"/>
              </a:rPr>
              <a:t>" Variable im </a:t>
            </a:r>
            <a:r>
              <a:rPr lang="de-DE" err="1">
                <a:latin typeface="Calibri"/>
                <a:ea typeface="Calibri"/>
                <a:cs typeface="Calibri"/>
              </a:rPr>
              <a:t>shader</a:t>
            </a:r>
            <a:r>
              <a:rPr lang="de-DE">
                <a:latin typeface="Calibri"/>
                <a:ea typeface="Calibri"/>
                <a:cs typeface="Calibri"/>
              </a:rPr>
              <a:t> zugegriffen und mittels dem </a:t>
            </a:r>
            <a:r>
              <a:rPr lang="de-DE" err="1">
                <a:latin typeface="Calibri"/>
                <a:ea typeface="Calibri"/>
                <a:cs typeface="Calibri"/>
              </a:rPr>
              <a:t>Gesundheits</a:t>
            </a:r>
            <a:r>
              <a:rPr lang="de-DE">
                <a:latin typeface="Calibri"/>
                <a:ea typeface="Calibri"/>
                <a:cs typeface="Calibri"/>
              </a:rPr>
              <a:t> </a:t>
            </a:r>
            <a:r>
              <a:rPr lang="de-DE" err="1">
                <a:latin typeface="Calibri"/>
                <a:ea typeface="Calibri"/>
                <a:cs typeface="Calibri"/>
              </a:rPr>
              <a:t>parameter</a:t>
            </a:r>
            <a:r>
              <a:rPr lang="de-DE">
                <a:latin typeface="Calibri"/>
                <a:ea typeface="Calibri"/>
                <a:cs typeface="Calibri"/>
              </a:rPr>
              <a:t> einen wert von 0 bis 1 zugewiesen.</a:t>
            </a:r>
          </a:p>
        </p:txBody>
      </p:sp>
      <p:sp>
        <p:nvSpPr>
          <p:cNvPr id="4" name="Slide Number Placeholder 3"/>
          <p:cNvSpPr>
            <a:spLocks noGrp="1"/>
          </p:cNvSpPr>
          <p:nvPr>
            <p:ph type="sldNum" sz="quarter" idx="5"/>
          </p:nvPr>
        </p:nvSpPr>
        <p:spPr/>
        <p:txBody>
          <a:bodyPr/>
          <a:lstStyle/>
          <a:p>
            <a:fld id="{054E03C9-788E-4984-A178-66DB793E0813}" type="slidenum">
              <a:rPr lang="de-DE" smtClean="0"/>
              <a:t>3</a:t>
            </a:fld>
            <a:endParaRPr lang="de-DE"/>
          </a:p>
        </p:txBody>
      </p:sp>
    </p:spTree>
    <p:extLst>
      <p:ext uri="{BB962C8B-B14F-4D97-AF65-F5344CB8AC3E}">
        <p14:creationId xmlns:p14="http://schemas.microsoft.com/office/powerpoint/2010/main" val="11403645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Hier </a:t>
            </a:r>
            <a:r>
              <a:rPr lang="en-US" err="1">
                <a:latin typeface="Calibri"/>
                <a:ea typeface="Calibri"/>
                <a:cs typeface="Calibri"/>
              </a:rPr>
              <a:t>können</a:t>
            </a:r>
            <a:r>
              <a:rPr lang="en-US">
                <a:latin typeface="Calibri"/>
                <a:ea typeface="Calibri"/>
                <a:cs typeface="Calibri"/>
              </a:rPr>
              <a:t> </a:t>
            </a:r>
            <a:r>
              <a:rPr lang="en-US" err="1">
                <a:latin typeface="Calibri"/>
                <a:ea typeface="Calibri"/>
                <a:cs typeface="Calibri"/>
              </a:rPr>
              <a:t>sie</a:t>
            </a:r>
            <a:r>
              <a:rPr lang="en-US">
                <a:latin typeface="Calibri"/>
                <a:ea typeface="Calibri"/>
                <a:cs typeface="Calibri"/>
              </a:rPr>
              <a:t> die </a:t>
            </a:r>
            <a:r>
              <a:rPr lang="en-US" err="1">
                <a:latin typeface="Calibri"/>
                <a:ea typeface="Calibri"/>
                <a:cs typeface="Calibri"/>
              </a:rPr>
              <a:t>Overlaytextur</a:t>
            </a:r>
            <a:r>
              <a:rPr lang="en-US">
                <a:latin typeface="Calibri"/>
                <a:ea typeface="Calibri"/>
                <a:cs typeface="Calibri"/>
              </a:rPr>
              <a:t> </a:t>
            </a:r>
            <a:r>
              <a:rPr lang="en-US" err="1">
                <a:latin typeface="Calibri"/>
                <a:ea typeface="Calibri"/>
                <a:cs typeface="Calibri"/>
              </a:rPr>
              <a:t>sehen</a:t>
            </a:r>
            <a:r>
              <a:rPr lang="en-US">
                <a:latin typeface="Calibri"/>
                <a:ea typeface="Calibri"/>
                <a:cs typeface="Calibri"/>
              </a:rPr>
              <a:t> und </a:t>
            </a:r>
            <a:r>
              <a:rPr lang="en-US" err="1">
                <a:latin typeface="Calibri"/>
                <a:ea typeface="Calibri"/>
                <a:cs typeface="Calibri"/>
              </a:rPr>
              <a:t>wie</a:t>
            </a:r>
            <a:r>
              <a:rPr lang="en-US">
                <a:latin typeface="Calibri"/>
                <a:ea typeface="Calibri"/>
                <a:cs typeface="Calibri"/>
              </a:rPr>
              <a:t> </a:t>
            </a:r>
            <a:r>
              <a:rPr lang="en-US" err="1">
                <a:latin typeface="Calibri"/>
                <a:ea typeface="Calibri"/>
                <a:cs typeface="Calibri"/>
              </a:rPr>
              <a:t>sie</a:t>
            </a:r>
            <a:r>
              <a:rPr lang="en-US">
                <a:latin typeface="Calibri"/>
                <a:ea typeface="Calibri"/>
                <a:cs typeface="Calibri"/>
              </a:rPr>
              <a:t> </a:t>
            </a:r>
            <a:r>
              <a:rPr lang="en-US" err="1">
                <a:latin typeface="Calibri"/>
                <a:ea typeface="Calibri"/>
                <a:cs typeface="Calibri"/>
              </a:rPr>
              <a:t>sich</a:t>
            </a:r>
            <a:r>
              <a:rPr lang="en-US">
                <a:latin typeface="Calibri"/>
                <a:ea typeface="Calibri"/>
                <a:cs typeface="Calibri"/>
              </a:rPr>
              <a:t> auf das Bild auswirkt</a:t>
            </a:r>
          </a:p>
        </p:txBody>
      </p:sp>
      <p:sp>
        <p:nvSpPr>
          <p:cNvPr id="4" name="Slide Number Placeholder 3"/>
          <p:cNvSpPr>
            <a:spLocks noGrp="1"/>
          </p:cNvSpPr>
          <p:nvPr>
            <p:ph type="sldNum" sz="quarter" idx="5"/>
          </p:nvPr>
        </p:nvSpPr>
        <p:spPr/>
        <p:txBody>
          <a:bodyPr/>
          <a:lstStyle/>
          <a:p>
            <a:fld id="{054E03C9-788E-4984-A178-66DB793E0813}" type="slidenum">
              <a:rPr lang="de-DE" smtClean="0"/>
              <a:t>4</a:t>
            </a:fld>
            <a:endParaRPr lang="de-DE"/>
          </a:p>
        </p:txBody>
      </p:sp>
    </p:spTree>
    <p:extLst>
      <p:ext uri="{BB962C8B-B14F-4D97-AF65-F5344CB8AC3E}">
        <p14:creationId xmlns:p14="http://schemas.microsoft.com/office/powerpoint/2010/main" val="20093546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latin typeface="Calibri"/>
                <a:ea typeface="Calibri"/>
                <a:cs typeface="Calibri"/>
              </a:rPr>
              <a:t>Ein weiteres Beispiel dafür wie die Zustandsparameter mit dem Spiel interagieren sind die Character Sprites. Die Sprites haben wir für unseren spezifischen </a:t>
            </a:r>
            <a:r>
              <a:rPr lang="de-DE" err="1">
                <a:latin typeface="Calibri"/>
                <a:ea typeface="Calibri"/>
                <a:cs typeface="Calibri"/>
              </a:rPr>
              <a:t>kontext</a:t>
            </a:r>
            <a:r>
              <a:rPr lang="de-DE">
                <a:latin typeface="Calibri"/>
                <a:ea typeface="Calibri"/>
                <a:cs typeface="Calibri"/>
              </a:rPr>
              <a:t> selber erstellt. Dabei gibt es einen Sprite für alle verschiedenen Kombinationen von normal, zwei gestresst Zuständen und zwei </a:t>
            </a:r>
            <a:r>
              <a:rPr lang="de-DE" err="1">
                <a:latin typeface="Calibri"/>
                <a:ea typeface="Calibri"/>
                <a:cs typeface="Calibri"/>
              </a:rPr>
              <a:t>Gesundheits</a:t>
            </a:r>
            <a:r>
              <a:rPr lang="de-DE">
                <a:latin typeface="Calibri"/>
                <a:ea typeface="Calibri"/>
                <a:cs typeface="Calibri"/>
              </a:rPr>
              <a:t> Zuständen. In der Player klasse wird nun mittels </a:t>
            </a:r>
            <a:r>
              <a:rPr lang="de-DE" err="1">
                <a:latin typeface="Calibri"/>
                <a:ea typeface="Calibri"/>
                <a:cs typeface="Calibri"/>
              </a:rPr>
              <a:t>If-Verzweigugen</a:t>
            </a:r>
            <a:r>
              <a:rPr lang="de-DE">
                <a:latin typeface="Calibri"/>
                <a:ea typeface="Calibri"/>
                <a:cs typeface="Calibri"/>
              </a:rPr>
              <a:t> auf die Zustandsparameter zugegriffen und für die Möglichen Zustandskombinationen Jeweils der richtige Sprite ausgegeben und angezeigt.</a:t>
            </a:r>
          </a:p>
        </p:txBody>
      </p:sp>
      <p:sp>
        <p:nvSpPr>
          <p:cNvPr id="4" name="Slide Number Placeholder 3"/>
          <p:cNvSpPr>
            <a:spLocks noGrp="1"/>
          </p:cNvSpPr>
          <p:nvPr>
            <p:ph type="sldNum" sz="quarter" idx="5"/>
          </p:nvPr>
        </p:nvSpPr>
        <p:spPr/>
        <p:txBody>
          <a:bodyPr/>
          <a:lstStyle/>
          <a:p>
            <a:fld id="{054E03C9-788E-4984-A178-66DB793E0813}" type="slidenum">
              <a:rPr lang="de-DE" smtClean="0"/>
              <a:t>5</a:t>
            </a:fld>
            <a:endParaRPr lang="de-DE"/>
          </a:p>
        </p:txBody>
      </p:sp>
    </p:spTree>
    <p:extLst>
      <p:ext uri="{BB962C8B-B14F-4D97-AF65-F5344CB8AC3E}">
        <p14:creationId xmlns:p14="http://schemas.microsoft.com/office/powerpoint/2010/main" val="5579602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054E03C9-788E-4984-A178-66DB793E0813}" type="slidenum">
              <a:rPr lang="de-DE" smtClean="0"/>
              <a:t>6</a:t>
            </a:fld>
            <a:endParaRPr lang="de-DE"/>
          </a:p>
        </p:txBody>
      </p:sp>
    </p:spTree>
    <p:extLst>
      <p:ext uri="{BB962C8B-B14F-4D97-AF65-F5344CB8AC3E}">
        <p14:creationId xmlns:p14="http://schemas.microsoft.com/office/powerpoint/2010/main" val="30193795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054E03C9-788E-4984-A178-66DB793E0813}" type="slidenum">
              <a:rPr lang="de-DE" smtClean="0"/>
              <a:t>7</a:t>
            </a:fld>
            <a:endParaRPr lang="de-DE"/>
          </a:p>
        </p:txBody>
      </p:sp>
    </p:spTree>
    <p:extLst>
      <p:ext uri="{BB962C8B-B14F-4D97-AF65-F5344CB8AC3E}">
        <p14:creationId xmlns:p14="http://schemas.microsoft.com/office/powerpoint/2010/main" val="30322935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In der Projektübersicht definierten wir das Projekt wie folgt: </a:t>
            </a:r>
            <a:br>
              <a:rPr lang="de-DE" dirty="0"/>
            </a:br>
            <a:r>
              <a:rPr lang="de-DE" sz="1200" dirty="0"/>
              <a:t>„In Folge dieses Projekts, soll ein Spiel-System entwickelt werden, welches den Prozess der Prokrastination, die daraus entstehende Problemlage und, wenn möglich, potenzielle Lösungsansätze illustriert. Dabei soll als Grundlage der Alltagsprozess eines Studenten verwendet werden, in welchem Pflicht und Ablenkungen vorhanden sind.“</a:t>
            </a:r>
            <a:endParaRPr lang="de-DE" dirty="0"/>
          </a:p>
        </p:txBody>
      </p:sp>
      <p:sp>
        <p:nvSpPr>
          <p:cNvPr id="4" name="Foliennummernplatzhalter 3"/>
          <p:cNvSpPr>
            <a:spLocks noGrp="1"/>
          </p:cNvSpPr>
          <p:nvPr>
            <p:ph type="sldNum" sz="quarter" idx="5"/>
          </p:nvPr>
        </p:nvSpPr>
        <p:spPr/>
        <p:txBody>
          <a:bodyPr/>
          <a:lstStyle/>
          <a:p>
            <a:fld id="{054E03C9-788E-4984-A178-66DB793E0813}" type="slidenum">
              <a:rPr lang="de-DE" smtClean="0"/>
              <a:t>8</a:t>
            </a:fld>
            <a:endParaRPr lang="de-DE"/>
          </a:p>
        </p:txBody>
      </p:sp>
    </p:spTree>
    <p:extLst>
      <p:ext uri="{BB962C8B-B14F-4D97-AF65-F5344CB8AC3E}">
        <p14:creationId xmlns:p14="http://schemas.microsoft.com/office/powerpoint/2010/main" val="41553258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Diese Punkte fanden unserer Ansicht nach ihre Umsetzung. Es wird ein Spiel-System verwendet und die Systeme im Spiel verweisen auf </a:t>
            </a:r>
            <a:r>
              <a:rPr lang="de-DE" dirty="0" err="1"/>
              <a:t>implikative</a:t>
            </a:r>
            <a:r>
              <a:rPr lang="de-DE" dirty="0"/>
              <a:t> Weise auf den Prozess, die Problematik und potenzielle Lösungsansätze für Prokrastination, im Projekt der Aspekt des Zeitmanagements.</a:t>
            </a:r>
          </a:p>
          <a:p>
            <a:r>
              <a:rPr lang="de-DE" dirty="0"/>
              <a:t>Auch der Aspekt des Settings, der Alltag eines Studenten, bestehend aus Pflicht und Ablenkung wurde umgesetzt.</a:t>
            </a:r>
          </a:p>
          <a:p>
            <a:endParaRPr lang="de-DE" dirty="0"/>
          </a:p>
          <a:p>
            <a:r>
              <a:rPr lang="de-DE" dirty="0"/>
              <a:t>Besser sichtbar wird der Grad der Umsetzung aber durch einen Blick auf die im Exposé geschilderten Mechaniken.</a:t>
            </a:r>
          </a:p>
        </p:txBody>
      </p:sp>
      <p:sp>
        <p:nvSpPr>
          <p:cNvPr id="4" name="Foliennummernplatzhalter 3"/>
          <p:cNvSpPr>
            <a:spLocks noGrp="1"/>
          </p:cNvSpPr>
          <p:nvPr>
            <p:ph type="sldNum" sz="quarter" idx="5"/>
          </p:nvPr>
        </p:nvSpPr>
        <p:spPr/>
        <p:txBody>
          <a:bodyPr/>
          <a:lstStyle/>
          <a:p>
            <a:fld id="{054E03C9-788E-4984-A178-66DB793E0813}" type="slidenum">
              <a:rPr lang="de-DE" smtClean="0"/>
              <a:t>9</a:t>
            </a:fld>
            <a:endParaRPr lang="de-DE"/>
          </a:p>
        </p:txBody>
      </p:sp>
    </p:spTree>
    <p:extLst>
      <p:ext uri="{BB962C8B-B14F-4D97-AF65-F5344CB8AC3E}">
        <p14:creationId xmlns:p14="http://schemas.microsoft.com/office/powerpoint/2010/main" val="2820521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Im Exposé setzten wir uns die Ziele, dass das Spiel die Mechaniken des Zeitmanagements und des Stress-/Gesundheits-Managements beinhalten sollte. Dies sollte durch Aufgaben und (Freizeit-)Aktivitäten bewerkstelligt werden. </a:t>
            </a:r>
            <a:br>
              <a:rPr lang="de-DE" dirty="0"/>
            </a:br>
            <a:r>
              <a:rPr lang="de-DE" dirty="0"/>
              <a:t>Konkrete Konsequenzen sollten durch 2 Spielenden abgebildet werden und die Parameter sollten eine visuelle Repräsentation durch Shader finden, wobei diese nur grob beschrieben waren.</a:t>
            </a:r>
          </a:p>
          <a:p>
            <a:endParaRPr lang="de-DE" dirty="0"/>
          </a:p>
          <a:p>
            <a:r>
              <a:rPr lang="de-DE" dirty="0"/>
              <a:t>In der Umsetzung fanden sich alle Ziele, welche im Exposé festgelegt wurden wieder und zusätzliche Mechaniken wie Tooltips und die Story-Line wurden umgesetzt, da diese das Onboarding neuer Spieler erleichtern und edukative Aspekte des Spiels zugänglicher machen.</a:t>
            </a:r>
          </a:p>
        </p:txBody>
      </p:sp>
      <p:sp>
        <p:nvSpPr>
          <p:cNvPr id="4" name="Foliennummernplatzhalter 3"/>
          <p:cNvSpPr>
            <a:spLocks noGrp="1"/>
          </p:cNvSpPr>
          <p:nvPr>
            <p:ph type="sldNum" sz="quarter" idx="5"/>
          </p:nvPr>
        </p:nvSpPr>
        <p:spPr/>
        <p:txBody>
          <a:bodyPr/>
          <a:lstStyle/>
          <a:p>
            <a:fld id="{054E03C9-788E-4984-A178-66DB793E0813}" type="slidenum">
              <a:rPr lang="de-DE" smtClean="0"/>
              <a:t>10</a:t>
            </a:fld>
            <a:endParaRPr lang="de-DE"/>
          </a:p>
        </p:txBody>
      </p:sp>
    </p:spTree>
    <p:extLst>
      <p:ext uri="{BB962C8B-B14F-4D97-AF65-F5344CB8AC3E}">
        <p14:creationId xmlns:p14="http://schemas.microsoft.com/office/powerpoint/2010/main" val="23837586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Kommen zuletzt noch zu den Problempunkten im Projekt. </a:t>
            </a:r>
            <a:br>
              <a:rPr lang="de-DE" dirty="0"/>
            </a:br>
            <a:r>
              <a:rPr lang="de-DE" dirty="0"/>
              <a:t>Die Erstellung von  PoCs war unserer Ansicht nach etwas unintuitiv, daher dauerte dies etwas länger. </a:t>
            </a:r>
          </a:p>
          <a:p>
            <a:r>
              <a:rPr lang="de-DE" dirty="0"/>
              <a:t>Im 3. Audit gab es Missverständnisse bezüglich der Story-Line, da wir unseren Standpunkt, warum die Story Line lediglich ein Zusatz wäre, nicht adäquat vertreten konnten.</a:t>
            </a:r>
          </a:p>
          <a:p>
            <a:r>
              <a:rPr lang="de-DE" dirty="0"/>
              <a:t>Ein Problem, welches vor allem zu beginn des 4ten Audits auftrat, war dass wir Zeitweise </a:t>
            </a:r>
            <a:r>
              <a:rPr lang="de-DE" dirty="0" err="1"/>
              <a:t>Mergekonflikte</a:t>
            </a:r>
            <a:r>
              <a:rPr lang="de-DE" dirty="0"/>
              <a:t> hatten, da wir das Projekt nicht Modular genug bauten und daher immer wieder unabgesprochen Änderungen an der Main-Scene vornahmen. Dies führte zu kleineren Rückschritten, welche aber wieder Zeitnahe aufgeholt werden konnten. </a:t>
            </a:r>
          </a:p>
          <a:p>
            <a:r>
              <a:rPr lang="de-DE" dirty="0"/>
              <a:t>Ebenso musste die Lösung zur Darstellung des Textes kurzfristig gewechselt werden, was am zu Ende hin Zeit kostete.</a:t>
            </a:r>
          </a:p>
          <a:p>
            <a:r>
              <a:rPr lang="de-DE" dirty="0"/>
              <a:t>Ein letztes Problem, welches in der Weiterentwicklung und zum Ende der Entwicklung zum Problem wurde, war dass der Code nicht Säuberlich genug implementiert wurde.</a:t>
            </a:r>
          </a:p>
        </p:txBody>
      </p:sp>
      <p:sp>
        <p:nvSpPr>
          <p:cNvPr id="4" name="Foliennummernplatzhalter 3"/>
          <p:cNvSpPr>
            <a:spLocks noGrp="1"/>
          </p:cNvSpPr>
          <p:nvPr>
            <p:ph type="sldNum" sz="quarter" idx="5"/>
          </p:nvPr>
        </p:nvSpPr>
        <p:spPr/>
        <p:txBody>
          <a:bodyPr/>
          <a:lstStyle/>
          <a:p>
            <a:fld id="{054E03C9-788E-4984-A178-66DB793E0813}" type="slidenum">
              <a:rPr lang="de-DE" smtClean="0"/>
              <a:t>11</a:t>
            </a:fld>
            <a:endParaRPr lang="de-DE"/>
          </a:p>
        </p:txBody>
      </p:sp>
    </p:spTree>
    <p:extLst>
      <p:ext uri="{BB962C8B-B14F-4D97-AF65-F5344CB8AC3E}">
        <p14:creationId xmlns:p14="http://schemas.microsoft.com/office/powerpoint/2010/main" val="24048150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Sollte das Projekt weiter entwickelt werden, so gäbe es eine Vielzahl von Punkten, an denen man ansetzen könnte. </a:t>
            </a:r>
          </a:p>
          <a:p>
            <a:r>
              <a:rPr lang="de-DE" dirty="0"/>
              <a:t>Die Animation der Spielfigur könnte vervollständigt, die Benutzeroberfläche an Raum und Spielfigur angepasst, die Story Line erweitert und die Reihe an Aktivitäten und Aufgaben erweitert werden.</a:t>
            </a:r>
          </a:p>
          <a:p>
            <a:r>
              <a:rPr lang="de-DE" dirty="0"/>
              <a:t>Soundeffekte und Musik, sowie der nicht implementierte PoC 311, die Subdeadlines, könnten implementiert werden.</a:t>
            </a:r>
          </a:p>
          <a:p>
            <a:r>
              <a:rPr lang="de-DE" dirty="0"/>
              <a:t>Denkbar wäre es, das Spielgeschehen in Level aufzuteilen, welche einen graduellen Anstieg der Herausforderung des Zeitmanagements bieten könnte.</a:t>
            </a:r>
          </a:p>
          <a:p>
            <a:r>
              <a:rPr lang="de-DE" dirty="0"/>
              <a:t>Die Erstellung von Mini-Spielen könnte die Aktivitäten und Aufgaben ergänzen und so die Attraktivität der Aktivitäten weiter beeinflussen.</a:t>
            </a:r>
          </a:p>
          <a:p>
            <a:endParaRPr lang="de-DE" dirty="0"/>
          </a:p>
          <a:p>
            <a:r>
              <a:rPr lang="de-DE" dirty="0"/>
              <a:t>Sollte dieses Projekt also weiter geführt werden, könnte der Simulationsaspekt vertieft und die Zugänglichkeit erweitert werden.</a:t>
            </a:r>
          </a:p>
        </p:txBody>
      </p:sp>
      <p:sp>
        <p:nvSpPr>
          <p:cNvPr id="4" name="Foliennummernplatzhalter 3"/>
          <p:cNvSpPr>
            <a:spLocks noGrp="1"/>
          </p:cNvSpPr>
          <p:nvPr>
            <p:ph type="sldNum" sz="quarter" idx="5"/>
          </p:nvPr>
        </p:nvSpPr>
        <p:spPr/>
        <p:txBody>
          <a:bodyPr/>
          <a:lstStyle/>
          <a:p>
            <a:fld id="{054E03C9-788E-4984-A178-66DB793E0813}" type="slidenum">
              <a:rPr lang="de-DE" smtClean="0"/>
              <a:t>12</a:t>
            </a:fld>
            <a:endParaRPr lang="de-DE"/>
          </a:p>
        </p:txBody>
      </p:sp>
    </p:spTree>
    <p:extLst>
      <p:ext uri="{BB962C8B-B14F-4D97-AF65-F5344CB8AC3E}">
        <p14:creationId xmlns:p14="http://schemas.microsoft.com/office/powerpoint/2010/main" val="37291324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Gibt es noch Fragen?</a:t>
            </a:r>
          </a:p>
        </p:txBody>
      </p:sp>
      <p:sp>
        <p:nvSpPr>
          <p:cNvPr id="4" name="Foliennummernplatzhalter 3"/>
          <p:cNvSpPr>
            <a:spLocks noGrp="1"/>
          </p:cNvSpPr>
          <p:nvPr>
            <p:ph type="sldNum" sz="quarter" idx="5"/>
          </p:nvPr>
        </p:nvSpPr>
        <p:spPr/>
        <p:txBody>
          <a:bodyPr/>
          <a:lstStyle/>
          <a:p>
            <a:fld id="{054E03C9-788E-4984-A178-66DB793E0813}" type="slidenum">
              <a:rPr lang="de-DE" smtClean="0"/>
              <a:t>13</a:t>
            </a:fld>
            <a:endParaRPr lang="de-DE"/>
          </a:p>
        </p:txBody>
      </p:sp>
    </p:spTree>
    <p:extLst>
      <p:ext uri="{BB962C8B-B14F-4D97-AF65-F5344CB8AC3E}">
        <p14:creationId xmlns:p14="http://schemas.microsoft.com/office/powerpoint/2010/main" val="683345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95E3F78-B0E5-B4F2-0AFD-378A7BBE33E9}"/>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60914DE0-2385-0E7D-E5F2-2A281A566E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7B58FE04-8FDC-27ED-FED8-570C21650EFF}"/>
              </a:ext>
            </a:extLst>
          </p:cNvPr>
          <p:cNvSpPr>
            <a:spLocks noGrp="1"/>
          </p:cNvSpPr>
          <p:nvPr>
            <p:ph type="dt" sz="half" idx="10"/>
          </p:nvPr>
        </p:nvSpPr>
        <p:spPr/>
        <p:txBody>
          <a:bodyPr/>
          <a:lstStyle/>
          <a:p>
            <a:fld id="{D4286C3A-DF05-49CA-8138-8C0F6915B7B7}" type="datetimeFigureOut">
              <a:rPr lang="de-DE" smtClean="0"/>
              <a:t>19.02.2026</a:t>
            </a:fld>
            <a:endParaRPr lang="de-DE"/>
          </a:p>
        </p:txBody>
      </p:sp>
      <p:sp>
        <p:nvSpPr>
          <p:cNvPr id="5" name="Fußzeilenplatzhalter 4">
            <a:extLst>
              <a:ext uri="{FF2B5EF4-FFF2-40B4-BE49-F238E27FC236}">
                <a16:creationId xmlns:a16="http://schemas.microsoft.com/office/drawing/2014/main" id="{35000D0F-BC4D-D256-40C8-69E82FF1F466}"/>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A9847164-83B8-DAB9-256C-841871E61AC9}"/>
              </a:ext>
            </a:extLst>
          </p:cNvPr>
          <p:cNvSpPr>
            <a:spLocks noGrp="1"/>
          </p:cNvSpPr>
          <p:nvPr>
            <p:ph type="sldNum" sz="quarter" idx="12"/>
          </p:nvPr>
        </p:nvSpPr>
        <p:spPr/>
        <p:txBody>
          <a:bodyPr/>
          <a:lstStyle/>
          <a:p>
            <a:fld id="{499DDD1B-25FC-4138-BB2D-5686A0530B81}" type="slidenum">
              <a:rPr lang="de-DE" smtClean="0"/>
              <a:t>‹Nr.›</a:t>
            </a:fld>
            <a:endParaRPr lang="de-DE"/>
          </a:p>
        </p:txBody>
      </p:sp>
    </p:spTree>
    <p:extLst>
      <p:ext uri="{BB962C8B-B14F-4D97-AF65-F5344CB8AC3E}">
        <p14:creationId xmlns:p14="http://schemas.microsoft.com/office/powerpoint/2010/main" val="1143323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64FD61-F8DF-0306-E41C-65569A316ADB}"/>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B3E8D8D1-EF23-3194-7A3F-E1D1B0889270}"/>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F842681C-FBF2-88FD-487D-AA73C43101DD}"/>
              </a:ext>
            </a:extLst>
          </p:cNvPr>
          <p:cNvSpPr>
            <a:spLocks noGrp="1"/>
          </p:cNvSpPr>
          <p:nvPr>
            <p:ph type="dt" sz="half" idx="10"/>
          </p:nvPr>
        </p:nvSpPr>
        <p:spPr/>
        <p:txBody>
          <a:bodyPr/>
          <a:lstStyle/>
          <a:p>
            <a:fld id="{D4286C3A-DF05-49CA-8138-8C0F6915B7B7}" type="datetimeFigureOut">
              <a:rPr lang="de-DE" smtClean="0"/>
              <a:t>19.02.2026</a:t>
            </a:fld>
            <a:endParaRPr lang="de-DE"/>
          </a:p>
        </p:txBody>
      </p:sp>
      <p:sp>
        <p:nvSpPr>
          <p:cNvPr id="5" name="Fußzeilenplatzhalter 4">
            <a:extLst>
              <a:ext uri="{FF2B5EF4-FFF2-40B4-BE49-F238E27FC236}">
                <a16:creationId xmlns:a16="http://schemas.microsoft.com/office/drawing/2014/main" id="{EED7C0A0-6950-F12B-2F88-F69EDD6AE205}"/>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69BA7851-0AFA-E717-E449-730BC9480941}"/>
              </a:ext>
            </a:extLst>
          </p:cNvPr>
          <p:cNvSpPr>
            <a:spLocks noGrp="1"/>
          </p:cNvSpPr>
          <p:nvPr>
            <p:ph type="sldNum" sz="quarter" idx="12"/>
          </p:nvPr>
        </p:nvSpPr>
        <p:spPr/>
        <p:txBody>
          <a:bodyPr/>
          <a:lstStyle/>
          <a:p>
            <a:fld id="{499DDD1B-25FC-4138-BB2D-5686A0530B81}" type="slidenum">
              <a:rPr lang="de-DE" smtClean="0"/>
              <a:t>‹Nr.›</a:t>
            </a:fld>
            <a:endParaRPr lang="de-DE"/>
          </a:p>
        </p:txBody>
      </p:sp>
    </p:spTree>
    <p:extLst>
      <p:ext uri="{BB962C8B-B14F-4D97-AF65-F5344CB8AC3E}">
        <p14:creationId xmlns:p14="http://schemas.microsoft.com/office/powerpoint/2010/main" val="31629602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64111B3-FF63-F4C4-1B94-712DDFD37EA7}"/>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3AD3CE79-A453-E5E5-9270-8BFAA63E3A4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8757B6DA-6103-32F2-027F-C3B1B6B31980}"/>
              </a:ext>
            </a:extLst>
          </p:cNvPr>
          <p:cNvSpPr>
            <a:spLocks noGrp="1"/>
          </p:cNvSpPr>
          <p:nvPr>
            <p:ph type="dt" sz="half" idx="10"/>
          </p:nvPr>
        </p:nvSpPr>
        <p:spPr/>
        <p:txBody>
          <a:bodyPr/>
          <a:lstStyle/>
          <a:p>
            <a:fld id="{D4286C3A-DF05-49CA-8138-8C0F6915B7B7}" type="datetimeFigureOut">
              <a:rPr lang="de-DE" smtClean="0"/>
              <a:t>19.02.2026</a:t>
            </a:fld>
            <a:endParaRPr lang="de-DE"/>
          </a:p>
        </p:txBody>
      </p:sp>
      <p:sp>
        <p:nvSpPr>
          <p:cNvPr id="5" name="Fußzeilenplatzhalter 4">
            <a:extLst>
              <a:ext uri="{FF2B5EF4-FFF2-40B4-BE49-F238E27FC236}">
                <a16:creationId xmlns:a16="http://schemas.microsoft.com/office/drawing/2014/main" id="{E0534867-55B7-5C42-FC18-B4C7302C8347}"/>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708C75AF-F52E-412D-F5C7-D4AA4ECFA1E2}"/>
              </a:ext>
            </a:extLst>
          </p:cNvPr>
          <p:cNvSpPr>
            <a:spLocks noGrp="1"/>
          </p:cNvSpPr>
          <p:nvPr>
            <p:ph type="sldNum" sz="quarter" idx="12"/>
          </p:nvPr>
        </p:nvSpPr>
        <p:spPr/>
        <p:txBody>
          <a:bodyPr/>
          <a:lstStyle/>
          <a:p>
            <a:fld id="{499DDD1B-25FC-4138-BB2D-5686A0530B81}" type="slidenum">
              <a:rPr lang="de-DE" smtClean="0"/>
              <a:t>‹Nr.›</a:t>
            </a:fld>
            <a:endParaRPr lang="de-DE"/>
          </a:p>
        </p:txBody>
      </p:sp>
    </p:spTree>
    <p:extLst>
      <p:ext uri="{BB962C8B-B14F-4D97-AF65-F5344CB8AC3E}">
        <p14:creationId xmlns:p14="http://schemas.microsoft.com/office/powerpoint/2010/main" val="14678640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E8BD7B1-4812-D2F2-B723-BA401C369F99}"/>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A01079FB-0C33-6766-B626-87ED9C0DDA31}"/>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950DBB9B-A3D1-0CAE-1D23-CD8F3A7F29FE}"/>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B0C69529-542C-28D6-B036-87F241733CB9}"/>
              </a:ext>
            </a:extLst>
          </p:cNvPr>
          <p:cNvSpPr>
            <a:spLocks noGrp="1"/>
          </p:cNvSpPr>
          <p:nvPr>
            <p:ph type="dt" sz="half" idx="10"/>
          </p:nvPr>
        </p:nvSpPr>
        <p:spPr/>
        <p:txBody>
          <a:bodyPr/>
          <a:lstStyle/>
          <a:p>
            <a:fld id="{D4286C3A-DF05-49CA-8138-8C0F6915B7B7}" type="datetimeFigureOut">
              <a:rPr lang="de-DE" smtClean="0"/>
              <a:t>19.02.2026</a:t>
            </a:fld>
            <a:endParaRPr lang="de-DE"/>
          </a:p>
        </p:txBody>
      </p:sp>
      <p:sp>
        <p:nvSpPr>
          <p:cNvPr id="6" name="Fußzeilenplatzhalter 5">
            <a:extLst>
              <a:ext uri="{FF2B5EF4-FFF2-40B4-BE49-F238E27FC236}">
                <a16:creationId xmlns:a16="http://schemas.microsoft.com/office/drawing/2014/main" id="{9D070055-A07F-E446-ECC2-E35B5A7BABC7}"/>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33871C28-23EC-2BDA-7F26-68922B849586}"/>
              </a:ext>
            </a:extLst>
          </p:cNvPr>
          <p:cNvSpPr>
            <a:spLocks noGrp="1"/>
          </p:cNvSpPr>
          <p:nvPr>
            <p:ph type="sldNum" sz="quarter" idx="12"/>
          </p:nvPr>
        </p:nvSpPr>
        <p:spPr/>
        <p:txBody>
          <a:bodyPr/>
          <a:lstStyle/>
          <a:p>
            <a:fld id="{499DDD1B-25FC-4138-BB2D-5686A0530B81}" type="slidenum">
              <a:rPr lang="de-DE" smtClean="0"/>
              <a:t>‹Nr.›</a:t>
            </a:fld>
            <a:endParaRPr lang="de-DE"/>
          </a:p>
        </p:txBody>
      </p:sp>
    </p:spTree>
    <p:extLst>
      <p:ext uri="{BB962C8B-B14F-4D97-AF65-F5344CB8AC3E}">
        <p14:creationId xmlns:p14="http://schemas.microsoft.com/office/powerpoint/2010/main" val="32788047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D16690F-1BB4-25BA-A55D-10DF51AD5CDE}"/>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CAEEE9C2-7DBF-EF1C-360F-B2A3CBEC4C3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FB74994E-670D-019C-4C21-22237A849B37}"/>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22307D42-796D-5B01-9FE3-CA14592496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C37C9669-2E64-8EB1-8BD9-F85763D0D48F}"/>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2734BFCE-177C-F435-2542-899BB3E355ED}"/>
              </a:ext>
            </a:extLst>
          </p:cNvPr>
          <p:cNvSpPr>
            <a:spLocks noGrp="1"/>
          </p:cNvSpPr>
          <p:nvPr>
            <p:ph type="dt" sz="half" idx="10"/>
          </p:nvPr>
        </p:nvSpPr>
        <p:spPr/>
        <p:txBody>
          <a:bodyPr/>
          <a:lstStyle/>
          <a:p>
            <a:fld id="{D4286C3A-DF05-49CA-8138-8C0F6915B7B7}" type="datetimeFigureOut">
              <a:rPr lang="de-DE" smtClean="0"/>
              <a:t>19.02.2026</a:t>
            </a:fld>
            <a:endParaRPr lang="de-DE"/>
          </a:p>
        </p:txBody>
      </p:sp>
      <p:sp>
        <p:nvSpPr>
          <p:cNvPr id="8" name="Fußzeilenplatzhalter 7">
            <a:extLst>
              <a:ext uri="{FF2B5EF4-FFF2-40B4-BE49-F238E27FC236}">
                <a16:creationId xmlns:a16="http://schemas.microsoft.com/office/drawing/2014/main" id="{8A1ED253-16A5-6D79-543D-F3B7C7A4A6EB}"/>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BB662513-4919-B6B7-28C1-4328739B2BCD}"/>
              </a:ext>
            </a:extLst>
          </p:cNvPr>
          <p:cNvSpPr>
            <a:spLocks noGrp="1"/>
          </p:cNvSpPr>
          <p:nvPr>
            <p:ph type="sldNum" sz="quarter" idx="12"/>
          </p:nvPr>
        </p:nvSpPr>
        <p:spPr/>
        <p:txBody>
          <a:bodyPr/>
          <a:lstStyle/>
          <a:p>
            <a:fld id="{499DDD1B-25FC-4138-BB2D-5686A0530B81}" type="slidenum">
              <a:rPr lang="de-DE" smtClean="0"/>
              <a:t>‹Nr.›</a:t>
            </a:fld>
            <a:endParaRPr lang="de-DE"/>
          </a:p>
        </p:txBody>
      </p:sp>
    </p:spTree>
    <p:extLst>
      <p:ext uri="{BB962C8B-B14F-4D97-AF65-F5344CB8AC3E}">
        <p14:creationId xmlns:p14="http://schemas.microsoft.com/office/powerpoint/2010/main" val="33687376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C755F2-E357-501F-A787-2B0B353BF5BB}"/>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34DBE15A-DF71-C36C-308F-A797ED16063E}"/>
              </a:ext>
            </a:extLst>
          </p:cNvPr>
          <p:cNvSpPr>
            <a:spLocks noGrp="1"/>
          </p:cNvSpPr>
          <p:nvPr>
            <p:ph type="dt" sz="half" idx="10"/>
          </p:nvPr>
        </p:nvSpPr>
        <p:spPr/>
        <p:txBody>
          <a:bodyPr/>
          <a:lstStyle/>
          <a:p>
            <a:fld id="{D4286C3A-DF05-49CA-8138-8C0F6915B7B7}" type="datetimeFigureOut">
              <a:rPr lang="de-DE" smtClean="0"/>
              <a:t>19.02.2026</a:t>
            </a:fld>
            <a:endParaRPr lang="de-DE"/>
          </a:p>
        </p:txBody>
      </p:sp>
      <p:sp>
        <p:nvSpPr>
          <p:cNvPr id="4" name="Fußzeilenplatzhalter 3">
            <a:extLst>
              <a:ext uri="{FF2B5EF4-FFF2-40B4-BE49-F238E27FC236}">
                <a16:creationId xmlns:a16="http://schemas.microsoft.com/office/drawing/2014/main" id="{615C3860-AE53-C263-AF81-8DDC420E1DDD}"/>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BA3DB519-7C09-7F67-741D-96363C6286CF}"/>
              </a:ext>
            </a:extLst>
          </p:cNvPr>
          <p:cNvSpPr>
            <a:spLocks noGrp="1"/>
          </p:cNvSpPr>
          <p:nvPr>
            <p:ph type="sldNum" sz="quarter" idx="12"/>
          </p:nvPr>
        </p:nvSpPr>
        <p:spPr/>
        <p:txBody>
          <a:bodyPr/>
          <a:lstStyle/>
          <a:p>
            <a:fld id="{499DDD1B-25FC-4138-BB2D-5686A0530B81}" type="slidenum">
              <a:rPr lang="de-DE" smtClean="0"/>
              <a:t>‹Nr.›</a:t>
            </a:fld>
            <a:endParaRPr lang="de-DE"/>
          </a:p>
        </p:txBody>
      </p:sp>
    </p:spTree>
    <p:extLst>
      <p:ext uri="{BB962C8B-B14F-4D97-AF65-F5344CB8AC3E}">
        <p14:creationId xmlns:p14="http://schemas.microsoft.com/office/powerpoint/2010/main" val="1891995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CC8CCC17-F534-3783-2221-12996FA06DDC}"/>
              </a:ext>
            </a:extLst>
          </p:cNvPr>
          <p:cNvSpPr>
            <a:spLocks noGrp="1"/>
          </p:cNvSpPr>
          <p:nvPr>
            <p:ph type="dt" sz="half" idx="10"/>
          </p:nvPr>
        </p:nvSpPr>
        <p:spPr/>
        <p:txBody>
          <a:bodyPr/>
          <a:lstStyle/>
          <a:p>
            <a:fld id="{D4286C3A-DF05-49CA-8138-8C0F6915B7B7}" type="datetimeFigureOut">
              <a:rPr lang="de-DE" smtClean="0"/>
              <a:t>19.02.2026</a:t>
            </a:fld>
            <a:endParaRPr lang="de-DE"/>
          </a:p>
        </p:txBody>
      </p:sp>
      <p:sp>
        <p:nvSpPr>
          <p:cNvPr id="3" name="Fußzeilenplatzhalter 2">
            <a:extLst>
              <a:ext uri="{FF2B5EF4-FFF2-40B4-BE49-F238E27FC236}">
                <a16:creationId xmlns:a16="http://schemas.microsoft.com/office/drawing/2014/main" id="{10BF473E-5C9B-9248-2D74-D0CB6811A71C}"/>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CF028203-C8CA-E4B5-D8E9-7B90F4057BB2}"/>
              </a:ext>
            </a:extLst>
          </p:cNvPr>
          <p:cNvSpPr>
            <a:spLocks noGrp="1"/>
          </p:cNvSpPr>
          <p:nvPr>
            <p:ph type="sldNum" sz="quarter" idx="12"/>
          </p:nvPr>
        </p:nvSpPr>
        <p:spPr/>
        <p:txBody>
          <a:bodyPr/>
          <a:lstStyle/>
          <a:p>
            <a:fld id="{499DDD1B-25FC-4138-BB2D-5686A0530B81}" type="slidenum">
              <a:rPr lang="de-DE" smtClean="0"/>
              <a:t>‹Nr.›</a:t>
            </a:fld>
            <a:endParaRPr lang="de-DE"/>
          </a:p>
        </p:txBody>
      </p:sp>
    </p:spTree>
    <p:extLst>
      <p:ext uri="{BB962C8B-B14F-4D97-AF65-F5344CB8AC3E}">
        <p14:creationId xmlns:p14="http://schemas.microsoft.com/office/powerpoint/2010/main" val="1365390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FE798A-E754-FD6B-E97A-C12CC8113A96}"/>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E5E4E69C-A5C5-9692-7DB6-78BF24A1A8C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71946C92-3BDB-73FB-5C91-78DDED75B0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B1689867-6E75-3E12-5D2B-C2468D8BCC38}"/>
              </a:ext>
            </a:extLst>
          </p:cNvPr>
          <p:cNvSpPr>
            <a:spLocks noGrp="1"/>
          </p:cNvSpPr>
          <p:nvPr>
            <p:ph type="dt" sz="half" idx="10"/>
          </p:nvPr>
        </p:nvSpPr>
        <p:spPr/>
        <p:txBody>
          <a:bodyPr/>
          <a:lstStyle/>
          <a:p>
            <a:fld id="{D4286C3A-DF05-49CA-8138-8C0F6915B7B7}" type="datetimeFigureOut">
              <a:rPr lang="de-DE" smtClean="0"/>
              <a:t>19.02.2026</a:t>
            </a:fld>
            <a:endParaRPr lang="de-DE"/>
          </a:p>
        </p:txBody>
      </p:sp>
      <p:sp>
        <p:nvSpPr>
          <p:cNvPr id="6" name="Fußzeilenplatzhalter 5">
            <a:extLst>
              <a:ext uri="{FF2B5EF4-FFF2-40B4-BE49-F238E27FC236}">
                <a16:creationId xmlns:a16="http://schemas.microsoft.com/office/drawing/2014/main" id="{074C34D2-5876-EDBF-0DC5-6FD15E1126CD}"/>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1934005E-84AC-2FC0-7FE0-06B606CE146D}"/>
              </a:ext>
            </a:extLst>
          </p:cNvPr>
          <p:cNvSpPr>
            <a:spLocks noGrp="1"/>
          </p:cNvSpPr>
          <p:nvPr>
            <p:ph type="sldNum" sz="quarter" idx="12"/>
          </p:nvPr>
        </p:nvSpPr>
        <p:spPr/>
        <p:txBody>
          <a:bodyPr/>
          <a:lstStyle/>
          <a:p>
            <a:fld id="{499DDD1B-25FC-4138-BB2D-5686A0530B81}" type="slidenum">
              <a:rPr lang="de-DE" smtClean="0"/>
              <a:t>‹Nr.›</a:t>
            </a:fld>
            <a:endParaRPr lang="de-DE"/>
          </a:p>
        </p:txBody>
      </p:sp>
    </p:spTree>
    <p:extLst>
      <p:ext uri="{BB962C8B-B14F-4D97-AF65-F5344CB8AC3E}">
        <p14:creationId xmlns:p14="http://schemas.microsoft.com/office/powerpoint/2010/main" val="13612311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3D0225B-137E-175C-EF5D-F85FFD1F4049}"/>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CDB410B0-62F4-5B20-E3F8-5714283471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6C665605-64F4-C09B-45EB-A3740D1238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30ECF955-41C1-39A1-C759-807291273A83}"/>
              </a:ext>
            </a:extLst>
          </p:cNvPr>
          <p:cNvSpPr>
            <a:spLocks noGrp="1"/>
          </p:cNvSpPr>
          <p:nvPr>
            <p:ph type="dt" sz="half" idx="10"/>
          </p:nvPr>
        </p:nvSpPr>
        <p:spPr/>
        <p:txBody>
          <a:bodyPr/>
          <a:lstStyle/>
          <a:p>
            <a:fld id="{D4286C3A-DF05-49CA-8138-8C0F6915B7B7}" type="datetimeFigureOut">
              <a:rPr lang="de-DE" smtClean="0"/>
              <a:t>19.02.2026</a:t>
            </a:fld>
            <a:endParaRPr lang="de-DE"/>
          </a:p>
        </p:txBody>
      </p:sp>
      <p:sp>
        <p:nvSpPr>
          <p:cNvPr id="6" name="Fußzeilenplatzhalter 5">
            <a:extLst>
              <a:ext uri="{FF2B5EF4-FFF2-40B4-BE49-F238E27FC236}">
                <a16:creationId xmlns:a16="http://schemas.microsoft.com/office/drawing/2014/main" id="{0A48C1BD-9848-DE65-796D-646A3490D539}"/>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8FA0C893-95C1-C932-A856-06983A9C7C1D}"/>
              </a:ext>
            </a:extLst>
          </p:cNvPr>
          <p:cNvSpPr>
            <a:spLocks noGrp="1"/>
          </p:cNvSpPr>
          <p:nvPr>
            <p:ph type="sldNum" sz="quarter" idx="12"/>
          </p:nvPr>
        </p:nvSpPr>
        <p:spPr/>
        <p:txBody>
          <a:bodyPr/>
          <a:lstStyle/>
          <a:p>
            <a:fld id="{499DDD1B-25FC-4138-BB2D-5686A0530B81}" type="slidenum">
              <a:rPr lang="de-DE" smtClean="0"/>
              <a:t>‹Nr.›</a:t>
            </a:fld>
            <a:endParaRPr lang="de-DE"/>
          </a:p>
        </p:txBody>
      </p:sp>
    </p:spTree>
    <p:extLst>
      <p:ext uri="{BB962C8B-B14F-4D97-AF65-F5344CB8AC3E}">
        <p14:creationId xmlns:p14="http://schemas.microsoft.com/office/powerpoint/2010/main" val="37221409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3AC671-C9D0-D0A6-5989-1105B0CB061B}"/>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5EF11A43-994C-6FF3-75A8-BEBB3920CF0E}"/>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856C4194-C0A6-B340-1E91-8A7AC812983C}"/>
              </a:ext>
            </a:extLst>
          </p:cNvPr>
          <p:cNvSpPr>
            <a:spLocks noGrp="1"/>
          </p:cNvSpPr>
          <p:nvPr>
            <p:ph type="dt" sz="half" idx="10"/>
          </p:nvPr>
        </p:nvSpPr>
        <p:spPr/>
        <p:txBody>
          <a:bodyPr/>
          <a:lstStyle/>
          <a:p>
            <a:fld id="{D4286C3A-DF05-49CA-8138-8C0F6915B7B7}" type="datetimeFigureOut">
              <a:rPr lang="de-DE" smtClean="0"/>
              <a:t>19.02.2026</a:t>
            </a:fld>
            <a:endParaRPr lang="de-DE"/>
          </a:p>
        </p:txBody>
      </p:sp>
      <p:sp>
        <p:nvSpPr>
          <p:cNvPr id="5" name="Fußzeilenplatzhalter 4">
            <a:extLst>
              <a:ext uri="{FF2B5EF4-FFF2-40B4-BE49-F238E27FC236}">
                <a16:creationId xmlns:a16="http://schemas.microsoft.com/office/drawing/2014/main" id="{D13F4A2F-9C27-96FE-09EB-E2E6B2848E97}"/>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3D821A8B-CBCC-50B8-6F62-149BD3DD71EB}"/>
              </a:ext>
            </a:extLst>
          </p:cNvPr>
          <p:cNvSpPr>
            <a:spLocks noGrp="1"/>
          </p:cNvSpPr>
          <p:nvPr>
            <p:ph type="sldNum" sz="quarter" idx="12"/>
          </p:nvPr>
        </p:nvSpPr>
        <p:spPr/>
        <p:txBody>
          <a:bodyPr/>
          <a:lstStyle/>
          <a:p>
            <a:fld id="{499DDD1B-25FC-4138-BB2D-5686A0530B81}" type="slidenum">
              <a:rPr lang="de-DE" smtClean="0"/>
              <a:t>‹Nr.›</a:t>
            </a:fld>
            <a:endParaRPr lang="de-DE"/>
          </a:p>
        </p:txBody>
      </p:sp>
    </p:spTree>
    <p:extLst>
      <p:ext uri="{BB962C8B-B14F-4D97-AF65-F5344CB8AC3E}">
        <p14:creationId xmlns:p14="http://schemas.microsoft.com/office/powerpoint/2010/main" val="42654409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365025AF-1BE4-B6BB-1276-4938ADF2D5E7}"/>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EE0771EC-98F9-0785-037A-1D99E4AB737A}"/>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BF7D4CC1-203F-E305-3DB0-2F1ADDA75F4A}"/>
              </a:ext>
            </a:extLst>
          </p:cNvPr>
          <p:cNvSpPr>
            <a:spLocks noGrp="1"/>
          </p:cNvSpPr>
          <p:nvPr>
            <p:ph type="dt" sz="half" idx="10"/>
          </p:nvPr>
        </p:nvSpPr>
        <p:spPr/>
        <p:txBody>
          <a:bodyPr/>
          <a:lstStyle/>
          <a:p>
            <a:fld id="{D4286C3A-DF05-49CA-8138-8C0F6915B7B7}" type="datetimeFigureOut">
              <a:rPr lang="de-DE" smtClean="0"/>
              <a:t>19.02.2026</a:t>
            </a:fld>
            <a:endParaRPr lang="de-DE"/>
          </a:p>
        </p:txBody>
      </p:sp>
      <p:sp>
        <p:nvSpPr>
          <p:cNvPr id="5" name="Fußzeilenplatzhalter 4">
            <a:extLst>
              <a:ext uri="{FF2B5EF4-FFF2-40B4-BE49-F238E27FC236}">
                <a16:creationId xmlns:a16="http://schemas.microsoft.com/office/drawing/2014/main" id="{CFD1C08D-B27C-2921-0F4F-4006226A4D51}"/>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45813D6B-918E-8B06-8946-B3B6349C3A2D}"/>
              </a:ext>
            </a:extLst>
          </p:cNvPr>
          <p:cNvSpPr>
            <a:spLocks noGrp="1"/>
          </p:cNvSpPr>
          <p:nvPr>
            <p:ph type="sldNum" sz="quarter" idx="12"/>
          </p:nvPr>
        </p:nvSpPr>
        <p:spPr/>
        <p:txBody>
          <a:bodyPr/>
          <a:lstStyle/>
          <a:p>
            <a:fld id="{499DDD1B-25FC-4138-BB2D-5686A0530B81}" type="slidenum">
              <a:rPr lang="de-DE" smtClean="0"/>
              <a:t>‹Nr.›</a:t>
            </a:fld>
            <a:endParaRPr lang="de-DE"/>
          </a:p>
        </p:txBody>
      </p:sp>
    </p:spTree>
    <p:extLst>
      <p:ext uri="{BB962C8B-B14F-4D97-AF65-F5344CB8AC3E}">
        <p14:creationId xmlns:p14="http://schemas.microsoft.com/office/powerpoint/2010/main" val="1147907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D127AA2A-4B21-9FD1-8B95-EBA1E887B2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5BB4356E-D0C0-1318-029A-E69BA5ECF4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828A3901-8644-CFCB-23F4-23E02C4BF3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4286C3A-DF05-49CA-8138-8C0F6915B7B7}" type="datetimeFigureOut">
              <a:rPr lang="de-DE" smtClean="0"/>
              <a:t>19.02.2026</a:t>
            </a:fld>
            <a:endParaRPr lang="de-DE"/>
          </a:p>
        </p:txBody>
      </p:sp>
      <p:sp>
        <p:nvSpPr>
          <p:cNvPr id="5" name="Fußzeilenplatzhalter 4">
            <a:extLst>
              <a:ext uri="{FF2B5EF4-FFF2-40B4-BE49-F238E27FC236}">
                <a16:creationId xmlns:a16="http://schemas.microsoft.com/office/drawing/2014/main" id="{1B2211D3-1245-B6A6-CE60-4C96FC0D34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640689FF-DA53-4AAB-AD2A-897A0CF24F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99DDD1B-25FC-4138-BB2D-5686A0530B81}" type="slidenum">
              <a:rPr lang="de-DE" smtClean="0"/>
              <a:t>‹Nr.›</a:t>
            </a:fld>
            <a:endParaRPr lang="de-DE"/>
          </a:p>
        </p:txBody>
      </p:sp>
    </p:spTree>
    <p:extLst>
      <p:ext uri="{BB962C8B-B14F-4D97-AF65-F5344CB8AC3E}">
        <p14:creationId xmlns:p14="http://schemas.microsoft.com/office/powerpoint/2010/main" val="28915387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AE9054F-B4FA-B22F-8FEE-7F0073C1AE05}"/>
              </a:ext>
            </a:extLst>
          </p:cNvPr>
          <p:cNvSpPr>
            <a:spLocks noGrp="1"/>
          </p:cNvSpPr>
          <p:nvPr>
            <p:ph type="ctrTitle"/>
          </p:nvPr>
        </p:nvSpPr>
        <p:spPr/>
        <p:txBody>
          <a:bodyPr/>
          <a:lstStyle/>
          <a:p>
            <a:r>
              <a:rPr lang="de-DE" dirty="0"/>
              <a:t>Audit 4</a:t>
            </a:r>
          </a:p>
        </p:txBody>
      </p:sp>
      <p:sp>
        <p:nvSpPr>
          <p:cNvPr id="3" name="Untertitel 2">
            <a:extLst>
              <a:ext uri="{FF2B5EF4-FFF2-40B4-BE49-F238E27FC236}">
                <a16:creationId xmlns:a16="http://schemas.microsoft.com/office/drawing/2014/main" id="{4C108399-9625-00E0-5BC1-2FCCFDE98AE4}"/>
              </a:ext>
            </a:extLst>
          </p:cNvPr>
          <p:cNvSpPr>
            <a:spLocks noGrp="1"/>
          </p:cNvSpPr>
          <p:nvPr>
            <p:ph type="subTitle" idx="1"/>
          </p:nvPr>
        </p:nvSpPr>
        <p:spPr/>
        <p:txBody>
          <a:bodyPr/>
          <a:lstStyle/>
          <a:p>
            <a:r>
              <a:rPr lang="de-DE" dirty="0"/>
              <a:t>Ben </a:t>
            </a:r>
            <a:r>
              <a:rPr lang="de-DE" dirty="0" err="1"/>
              <a:t>Pritzkau</a:t>
            </a:r>
            <a:r>
              <a:rPr lang="de-DE" dirty="0"/>
              <a:t> &amp; Robin Schlegel</a:t>
            </a:r>
          </a:p>
        </p:txBody>
      </p:sp>
    </p:spTree>
    <p:extLst>
      <p:ext uri="{BB962C8B-B14F-4D97-AF65-F5344CB8AC3E}">
        <p14:creationId xmlns:p14="http://schemas.microsoft.com/office/powerpoint/2010/main" val="3729435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FA2388C-0481-4EDD-C645-5A3F496E2C7A}"/>
              </a:ext>
            </a:extLst>
          </p:cNvPr>
          <p:cNvSpPr>
            <a:spLocks noGrp="1"/>
          </p:cNvSpPr>
          <p:nvPr>
            <p:ph type="title"/>
          </p:nvPr>
        </p:nvSpPr>
        <p:spPr/>
        <p:txBody>
          <a:bodyPr/>
          <a:lstStyle/>
          <a:p>
            <a:r>
              <a:rPr lang="de-DE" dirty="0"/>
              <a:t>Demonstration</a:t>
            </a:r>
          </a:p>
        </p:txBody>
      </p:sp>
      <p:sp>
        <p:nvSpPr>
          <p:cNvPr id="3" name="Inhaltsplatzhalter 2">
            <a:extLst>
              <a:ext uri="{FF2B5EF4-FFF2-40B4-BE49-F238E27FC236}">
                <a16:creationId xmlns:a16="http://schemas.microsoft.com/office/drawing/2014/main" id="{92010312-4314-8589-BCDB-DDE8DC7D2914}"/>
              </a:ext>
            </a:extLst>
          </p:cNvPr>
          <p:cNvSpPr>
            <a:spLocks noGrp="1"/>
          </p:cNvSpPr>
          <p:nvPr>
            <p:ph idx="1"/>
          </p:nvPr>
        </p:nvSpPr>
        <p:spPr/>
        <p:txBody>
          <a:bodyPr vert="horz" lIns="91440" tIns="45720" rIns="91440" bIns="45720" rtlCol="0" anchor="t">
            <a:normAutofit/>
          </a:bodyPr>
          <a:lstStyle/>
          <a:p>
            <a:r>
              <a:rPr lang="de-DE" dirty="0"/>
              <a:t>Videolink auf </a:t>
            </a:r>
            <a:r>
              <a:rPr lang="de-DE" dirty="0" err="1"/>
              <a:t>Github</a:t>
            </a:r>
            <a:r>
              <a:rPr lang="de-DE" dirty="0"/>
              <a:t> im Audit4 README</a:t>
            </a:r>
          </a:p>
        </p:txBody>
      </p:sp>
    </p:spTree>
    <p:extLst>
      <p:ext uri="{BB962C8B-B14F-4D97-AF65-F5344CB8AC3E}">
        <p14:creationId xmlns:p14="http://schemas.microsoft.com/office/powerpoint/2010/main" val="1475349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15719BB-48A7-4AF4-BB91-DC82E0DF72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10973A55-5440-4A99-B526-B5812E462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6002" cy="6858000"/>
          </a:xfrm>
          <a:custGeom>
            <a:avLst/>
            <a:gdLst>
              <a:gd name="connsiteX0" fmla="*/ 0 w 6096002"/>
              <a:gd name="connsiteY0" fmla="*/ 0 h 6858000"/>
              <a:gd name="connsiteX1" fmla="*/ 4885967 w 6096002"/>
              <a:gd name="connsiteY1" fmla="*/ 0 h 6858000"/>
              <a:gd name="connsiteX2" fmla="*/ 4946007 w 6096002"/>
              <a:gd name="connsiteY2" fmla="*/ 69271 h 6858000"/>
              <a:gd name="connsiteX3" fmla="*/ 6096002 w 6096002"/>
              <a:gd name="connsiteY3" fmla="*/ 3429000 h 6858000"/>
              <a:gd name="connsiteX4" fmla="*/ 4946007 w 6096002"/>
              <a:gd name="connsiteY4" fmla="*/ 6788730 h 6858000"/>
              <a:gd name="connsiteX5" fmla="*/ 4885967 w 6096002"/>
              <a:gd name="connsiteY5" fmla="*/ 6858000 h 6858000"/>
              <a:gd name="connsiteX6" fmla="*/ 0 w 609600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2" h="685800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A9682493-588A-4D52-98F6-FBBD80C07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5370" cy="6858000"/>
          </a:xfrm>
          <a:custGeom>
            <a:avLst/>
            <a:gdLst>
              <a:gd name="connsiteX0" fmla="*/ 0 w 6085370"/>
              <a:gd name="connsiteY0" fmla="*/ 0 h 6858000"/>
              <a:gd name="connsiteX1" fmla="*/ 4875335 w 6085370"/>
              <a:gd name="connsiteY1" fmla="*/ 0 h 6858000"/>
              <a:gd name="connsiteX2" fmla="*/ 4935375 w 6085370"/>
              <a:gd name="connsiteY2" fmla="*/ 69271 h 6858000"/>
              <a:gd name="connsiteX3" fmla="*/ 6085370 w 6085370"/>
              <a:gd name="connsiteY3" fmla="*/ 3429000 h 6858000"/>
              <a:gd name="connsiteX4" fmla="*/ 4935375 w 6085370"/>
              <a:gd name="connsiteY4" fmla="*/ 6788730 h 6858000"/>
              <a:gd name="connsiteX5" fmla="*/ 4875335 w 6085370"/>
              <a:gd name="connsiteY5" fmla="*/ 6858000 h 6858000"/>
              <a:gd name="connsiteX6" fmla="*/ 0 w 60853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5370" h="685800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el 1">
            <a:extLst>
              <a:ext uri="{FF2B5EF4-FFF2-40B4-BE49-F238E27FC236}">
                <a16:creationId xmlns:a16="http://schemas.microsoft.com/office/drawing/2014/main" id="{0EE4BF1C-9D5B-1572-C896-FAAF7FA9AAD6}"/>
              </a:ext>
            </a:extLst>
          </p:cNvPr>
          <p:cNvSpPr>
            <a:spLocks noGrp="1"/>
          </p:cNvSpPr>
          <p:nvPr>
            <p:ph type="title"/>
          </p:nvPr>
        </p:nvSpPr>
        <p:spPr>
          <a:xfrm>
            <a:off x="438913" y="859536"/>
            <a:ext cx="4832802" cy="1170432"/>
          </a:xfrm>
        </p:spPr>
        <p:txBody>
          <a:bodyPr anchor="b">
            <a:normAutofit/>
          </a:bodyPr>
          <a:lstStyle/>
          <a:p>
            <a:r>
              <a:rPr lang="de-DE" sz="3400"/>
              <a:t>Code Inspektion</a:t>
            </a:r>
          </a:p>
        </p:txBody>
      </p:sp>
      <p:sp>
        <p:nvSpPr>
          <p:cNvPr id="16" name="Rectangle 15">
            <a:extLst>
              <a:ext uri="{FF2B5EF4-FFF2-40B4-BE49-F238E27FC236}">
                <a16:creationId xmlns:a16="http://schemas.microsoft.com/office/drawing/2014/main" id="{FBEC5A7A-ADE4-48D9-B89C-2BA1C91106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3236"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92" y="2185062"/>
            <a:ext cx="49377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Inhaltsplatzhalter 2">
            <a:extLst>
              <a:ext uri="{FF2B5EF4-FFF2-40B4-BE49-F238E27FC236}">
                <a16:creationId xmlns:a16="http://schemas.microsoft.com/office/drawing/2014/main" id="{2302FB4F-17F1-2A49-0F6B-69F83F38AB75}"/>
              </a:ext>
            </a:extLst>
          </p:cNvPr>
          <p:cNvSpPr>
            <a:spLocks noGrp="1"/>
          </p:cNvSpPr>
          <p:nvPr>
            <p:ph idx="1"/>
          </p:nvPr>
        </p:nvSpPr>
        <p:spPr>
          <a:xfrm>
            <a:off x="462358" y="2487490"/>
            <a:ext cx="3730834" cy="3689472"/>
          </a:xfrm>
        </p:spPr>
        <p:txBody>
          <a:bodyPr vert="horz" lIns="91440" tIns="45720" rIns="91440" bIns="45720" rtlCol="0" anchor="t">
            <a:normAutofit/>
          </a:bodyPr>
          <a:lstStyle/>
          <a:p>
            <a:r>
              <a:rPr lang="de-DE" sz="1800"/>
              <a:t>Shader</a:t>
            </a:r>
          </a:p>
          <a:p>
            <a:r>
              <a:rPr lang="de-DE" sz="1800"/>
              <a:t>Textur wird im </a:t>
            </a:r>
            <a:r>
              <a:rPr lang="de-DE" sz="1800" err="1"/>
              <a:t>shader</a:t>
            </a:r>
            <a:r>
              <a:rPr lang="de-DE" sz="1800"/>
              <a:t> code mithilfe der </a:t>
            </a:r>
            <a:r>
              <a:rPr lang="de-DE" sz="1800" err="1"/>
              <a:t>hard_light</a:t>
            </a:r>
            <a:r>
              <a:rPr lang="de-DE" sz="1800"/>
              <a:t> </a:t>
            </a:r>
            <a:r>
              <a:rPr lang="de-DE" sz="1800" err="1"/>
              <a:t>funktion</a:t>
            </a:r>
            <a:r>
              <a:rPr lang="de-DE" sz="1800"/>
              <a:t> auf die Szene angewendet</a:t>
            </a:r>
          </a:p>
          <a:p>
            <a:endParaRPr lang="de-DE" sz="1800"/>
          </a:p>
          <a:p>
            <a:r>
              <a:rPr lang="de-DE" sz="1800"/>
              <a:t>Parameter "</a:t>
            </a:r>
            <a:r>
              <a:rPr lang="de-DE" sz="1800" err="1"/>
              <a:t>intensity</a:t>
            </a:r>
            <a:r>
              <a:rPr lang="de-DE" sz="1800"/>
              <a:t>" steuert wie stark der </a:t>
            </a:r>
            <a:r>
              <a:rPr lang="de-DE" sz="1800" err="1"/>
              <a:t>effekt</a:t>
            </a:r>
            <a:r>
              <a:rPr lang="de-DE" sz="1800"/>
              <a:t> ist</a:t>
            </a:r>
          </a:p>
          <a:p>
            <a:endParaRPr lang="de-DE" sz="1800"/>
          </a:p>
        </p:txBody>
      </p:sp>
      <p:pic>
        <p:nvPicPr>
          <p:cNvPr id="4" name="Picture 3">
            <a:extLst>
              <a:ext uri="{FF2B5EF4-FFF2-40B4-BE49-F238E27FC236}">
                <a16:creationId xmlns:a16="http://schemas.microsoft.com/office/drawing/2014/main" id="{FA82D8A4-ED1C-EC2B-2307-D41743F04614}"/>
              </a:ext>
            </a:extLst>
          </p:cNvPr>
          <p:cNvPicPr>
            <a:picLocks noChangeAspect="1"/>
          </p:cNvPicPr>
          <p:nvPr/>
        </p:nvPicPr>
        <p:blipFill>
          <a:blip r:embed="rId3"/>
          <a:stretch>
            <a:fillRect/>
          </a:stretch>
        </p:blipFill>
        <p:spPr>
          <a:xfrm>
            <a:off x="4466349" y="853509"/>
            <a:ext cx="7290113" cy="3477939"/>
          </a:xfrm>
          <a:prstGeom prst="rect">
            <a:avLst/>
          </a:prstGeom>
        </p:spPr>
      </p:pic>
      <p:pic>
        <p:nvPicPr>
          <p:cNvPr id="5" name="Picture 4">
            <a:extLst>
              <a:ext uri="{FF2B5EF4-FFF2-40B4-BE49-F238E27FC236}">
                <a16:creationId xmlns:a16="http://schemas.microsoft.com/office/drawing/2014/main" id="{F2926F76-3D00-073E-EF3A-836BB5D430AD}"/>
              </a:ext>
            </a:extLst>
          </p:cNvPr>
          <p:cNvPicPr>
            <a:picLocks noChangeAspect="1"/>
          </p:cNvPicPr>
          <p:nvPr/>
        </p:nvPicPr>
        <p:blipFill>
          <a:blip r:embed="rId4"/>
          <a:stretch>
            <a:fillRect/>
          </a:stretch>
        </p:blipFill>
        <p:spPr>
          <a:xfrm>
            <a:off x="2313910" y="4765736"/>
            <a:ext cx="9445274" cy="1577816"/>
          </a:xfrm>
          <a:prstGeom prst="rect">
            <a:avLst/>
          </a:prstGeom>
        </p:spPr>
      </p:pic>
    </p:spTree>
    <p:extLst>
      <p:ext uri="{BB962C8B-B14F-4D97-AF65-F5344CB8AC3E}">
        <p14:creationId xmlns:p14="http://schemas.microsoft.com/office/powerpoint/2010/main" val="2697226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EE36D-EA2B-EF60-7D34-86049AFF7C45}"/>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48D815DC-98C2-399F-4AA7-E57238470FFD}"/>
              </a:ext>
            </a:extLst>
          </p:cNvPr>
          <p:cNvPicPr>
            <a:picLocks noGrp="1" noChangeAspect="1"/>
          </p:cNvPicPr>
          <p:nvPr>
            <p:ph idx="1"/>
          </p:nvPr>
        </p:nvPicPr>
        <p:blipFill>
          <a:blip r:embed="rId3"/>
          <a:stretch>
            <a:fillRect/>
          </a:stretch>
        </p:blipFill>
        <p:spPr>
          <a:xfrm>
            <a:off x="62542" y="1895964"/>
            <a:ext cx="4177284" cy="3038354"/>
          </a:xfrm>
          <a:prstGeom prst="rect">
            <a:avLst/>
          </a:prstGeom>
        </p:spPr>
      </p:pic>
      <p:pic>
        <p:nvPicPr>
          <p:cNvPr id="5" name="Picture 4">
            <a:extLst>
              <a:ext uri="{FF2B5EF4-FFF2-40B4-BE49-F238E27FC236}">
                <a16:creationId xmlns:a16="http://schemas.microsoft.com/office/drawing/2014/main" id="{0968F1BD-F51C-6794-2725-AA7498EDE6BE}"/>
              </a:ext>
            </a:extLst>
          </p:cNvPr>
          <p:cNvPicPr>
            <a:picLocks noChangeAspect="1"/>
          </p:cNvPicPr>
          <p:nvPr/>
        </p:nvPicPr>
        <p:blipFill>
          <a:blip r:embed="rId4"/>
          <a:stretch>
            <a:fillRect/>
          </a:stretch>
        </p:blipFill>
        <p:spPr>
          <a:xfrm>
            <a:off x="8175012" y="1890345"/>
            <a:ext cx="4071573" cy="3030416"/>
          </a:xfrm>
          <a:prstGeom prst="rect">
            <a:avLst/>
          </a:prstGeom>
        </p:spPr>
      </p:pic>
      <p:pic>
        <p:nvPicPr>
          <p:cNvPr id="6" name="Picture 5">
            <a:extLst>
              <a:ext uri="{FF2B5EF4-FFF2-40B4-BE49-F238E27FC236}">
                <a16:creationId xmlns:a16="http://schemas.microsoft.com/office/drawing/2014/main" id="{D46F5F25-5381-5122-EA08-64619B094BBE}"/>
              </a:ext>
            </a:extLst>
          </p:cNvPr>
          <p:cNvPicPr>
            <a:picLocks noChangeAspect="1"/>
          </p:cNvPicPr>
          <p:nvPr/>
        </p:nvPicPr>
        <p:blipFill>
          <a:blip r:embed="rId5"/>
          <a:stretch>
            <a:fillRect/>
          </a:stretch>
        </p:blipFill>
        <p:spPr>
          <a:xfrm>
            <a:off x="4110404" y="1900238"/>
            <a:ext cx="4088424" cy="3034080"/>
          </a:xfrm>
          <a:prstGeom prst="rect">
            <a:avLst/>
          </a:prstGeom>
        </p:spPr>
      </p:pic>
    </p:spTree>
    <p:extLst>
      <p:ext uri="{BB962C8B-B14F-4D97-AF65-F5344CB8AC3E}">
        <p14:creationId xmlns:p14="http://schemas.microsoft.com/office/powerpoint/2010/main" val="41063243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6464CD-12F5-0FD6-8A35-DD74CDDAA0BE}"/>
              </a:ext>
            </a:extLst>
          </p:cNvPr>
          <p:cNvSpPr>
            <a:spLocks noGrp="1"/>
          </p:cNvSpPr>
          <p:nvPr>
            <p:ph type="title"/>
          </p:nvPr>
        </p:nvSpPr>
        <p:spPr>
          <a:xfrm>
            <a:off x="640080" y="329184"/>
            <a:ext cx="6894576" cy="1783080"/>
          </a:xfrm>
        </p:spPr>
        <p:txBody>
          <a:bodyPr anchor="b">
            <a:normAutofit/>
          </a:bodyPr>
          <a:lstStyle/>
          <a:p>
            <a:r>
              <a:rPr lang="de-DE" sz="5400"/>
              <a:t>Code Inspektion</a:t>
            </a:r>
            <a:endParaRPr lang="en-US" sz="5400"/>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1EE41FD-57D8-2451-E223-B2B954094AC3}"/>
              </a:ext>
            </a:extLst>
          </p:cNvPr>
          <p:cNvSpPr>
            <a:spLocks noGrp="1"/>
          </p:cNvSpPr>
          <p:nvPr>
            <p:ph idx="1"/>
          </p:nvPr>
        </p:nvSpPr>
        <p:spPr>
          <a:xfrm>
            <a:off x="640080" y="2706624"/>
            <a:ext cx="5275326" cy="3483864"/>
          </a:xfrm>
        </p:spPr>
        <p:txBody>
          <a:bodyPr vert="horz" lIns="91440" tIns="45720" rIns="91440" bIns="45720" rtlCol="0" anchor="t">
            <a:normAutofit/>
          </a:bodyPr>
          <a:lstStyle/>
          <a:p>
            <a:r>
              <a:rPr lang="de-DE" sz="2200"/>
              <a:t>Character Sprites für die verschiedenen Gefühlszuständen.</a:t>
            </a:r>
          </a:p>
          <a:p>
            <a:r>
              <a:rPr lang="de-DE" sz="2200"/>
              <a:t>Je nach Stress Level werden die gewünschten Sprites angezeigt.</a:t>
            </a:r>
          </a:p>
        </p:txBody>
      </p:sp>
      <p:pic>
        <p:nvPicPr>
          <p:cNvPr id="4" name="Picture 3">
            <a:extLst>
              <a:ext uri="{FF2B5EF4-FFF2-40B4-BE49-F238E27FC236}">
                <a16:creationId xmlns:a16="http://schemas.microsoft.com/office/drawing/2014/main" id="{059E9A04-B811-664D-DA6E-42B1A099D4F2}"/>
              </a:ext>
            </a:extLst>
          </p:cNvPr>
          <p:cNvPicPr>
            <a:picLocks noChangeAspect="1"/>
          </p:cNvPicPr>
          <p:nvPr/>
        </p:nvPicPr>
        <p:blipFill>
          <a:blip r:embed="rId3"/>
          <a:stretch>
            <a:fillRect/>
          </a:stretch>
        </p:blipFill>
        <p:spPr>
          <a:xfrm>
            <a:off x="6299019" y="356839"/>
            <a:ext cx="5565430" cy="4531264"/>
          </a:xfrm>
          <a:prstGeom prst="rect">
            <a:avLst/>
          </a:prstGeom>
        </p:spPr>
      </p:pic>
      <p:pic>
        <p:nvPicPr>
          <p:cNvPr id="5" name="Picture 4" descr="https://cdn.discordapp.com/attachments/389146874273333249/1474187014369706089/image.png?ex=6998ef25&amp;is=69979da5&amp;hm=d590f12f4b303f5a46c2a7db2dabe3b09f659d35accaa292b9fc126b63f9fe37">
            <a:extLst>
              <a:ext uri="{FF2B5EF4-FFF2-40B4-BE49-F238E27FC236}">
                <a16:creationId xmlns:a16="http://schemas.microsoft.com/office/drawing/2014/main" id="{0CAED1FF-6FE5-55A0-B229-B12F4929D300}"/>
              </a:ext>
            </a:extLst>
          </p:cNvPr>
          <p:cNvPicPr>
            <a:picLocks noChangeAspect="1"/>
          </p:cNvPicPr>
          <p:nvPr/>
        </p:nvPicPr>
        <p:blipFill>
          <a:blip r:embed="rId4"/>
          <a:stretch>
            <a:fillRect/>
          </a:stretch>
        </p:blipFill>
        <p:spPr>
          <a:xfrm>
            <a:off x="3890555" y="5341645"/>
            <a:ext cx="7969213" cy="1093724"/>
          </a:xfrm>
          <a:prstGeom prst="rect">
            <a:avLst/>
          </a:prstGeom>
        </p:spPr>
      </p:pic>
    </p:spTree>
    <p:extLst>
      <p:ext uri="{BB962C8B-B14F-4D97-AF65-F5344CB8AC3E}">
        <p14:creationId xmlns:p14="http://schemas.microsoft.com/office/powerpoint/2010/main" val="40078405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7525D62-6A1B-E6A3-144A-AABACA2C1706}"/>
              </a:ext>
            </a:extLst>
          </p:cNvPr>
          <p:cNvSpPr>
            <a:spLocks noGrp="1"/>
          </p:cNvSpPr>
          <p:nvPr>
            <p:ph type="title"/>
          </p:nvPr>
        </p:nvSpPr>
        <p:spPr/>
        <p:txBody>
          <a:bodyPr/>
          <a:lstStyle/>
          <a:p>
            <a:r>
              <a:rPr lang="de-DE" dirty="0"/>
              <a:t>Handlungsstrang	       Tooltips</a:t>
            </a:r>
          </a:p>
        </p:txBody>
      </p:sp>
      <p:sp>
        <p:nvSpPr>
          <p:cNvPr id="4" name="Inhaltsplatzhalter 3">
            <a:extLst>
              <a:ext uri="{FF2B5EF4-FFF2-40B4-BE49-F238E27FC236}">
                <a16:creationId xmlns:a16="http://schemas.microsoft.com/office/drawing/2014/main" id="{0F832F97-638B-8749-5055-6A0AA003FA90}"/>
              </a:ext>
            </a:extLst>
          </p:cNvPr>
          <p:cNvSpPr>
            <a:spLocks noGrp="1"/>
          </p:cNvSpPr>
          <p:nvPr>
            <p:ph sz="half" idx="1"/>
          </p:nvPr>
        </p:nvSpPr>
        <p:spPr/>
        <p:txBody>
          <a:bodyPr/>
          <a:lstStyle/>
          <a:p>
            <a:r>
              <a:rPr lang="de-DE" dirty="0"/>
              <a:t>Kurzer Handlungsstrang</a:t>
            </a:r>
          </a:p>
          <a:p>
            <a:r>
              <a:rPr lang="de-DE" dirty="0"/>
              <a:t>2 Studenten im Entwicklungsprojekt</a:t>
            </a:r>
          </a:p>
          <a:p>
            <a:r>
              <a:rPr lang="de-DE" dirty="0"/>
              <a:t>Partner ist auf einem Ausflug und arbeitet nicht mehr mit</a:t>
            </a:r>
          </a:p>
          <a:p>
            <a:r>
              <a:rPr lang="de-DE" dirty="0"/>
              <a:t>Erfolg des Projekts beruht auf dem Erfolg des Spielers</a:t>
            </a:r>
          </a:p>
          <a:p>
            <a:r>
              <a:rPr lang="de-DE" dirty="0"/>
              <a:t>Je nach Arbeitsfortschritt, alternative Dialoge</a:t>
            </a:r>
          </a:p>
        </p:txBody>
      </p:sp>
      <p:pic>
        <p:nvPicPr>
          <p:cNvPr id="9" name="Inhaltsplatzhalter 8" descr="Ein Bild, welches ein Tooltip aufzeigt. Dies ist ein Text welcher das selektierte Element erklärt.">
            <a:extLst>
              <a:ext uri="{FF2B5EF4-FFF2-40B4-BE49-F238E27FC236}">
                <a16:creationId xmlns:a16="http://schemas.microsoft.com/office/drawing/2014/main" id="{F5D07344-8D3F-118E-5941-4BC81BF9632A}"/>
              </a:ext>
            </a:extLst>
          </p:cNvPr>
          <p:cNvPicPr>
            <a:picLocks noGrp="1" noChangeAspect="1"/>
          </p:cNvPicPr>
          <p:nvPr>
            <p:ph sz="half" idx="2"/>
          </p:nvPr>
        </p:nvPicPr>
        <p:blipFill>
          <a:blip r:embed="rId3"/>
          <a:stretch>
            <a:fillRect/>
          </a:stretch>
        </p:blipFill>
        <p:spPr>
          <a:xfrm>
            <a:off x="6172202" y="1825625"/>
            <a:ext cx="4980147" cy="3531121"/>
          </a:xfrm>
          <a:prstGeom prst="rect">
            <a:avLst/>
          </a:prstGeom>
        </p:spPr>
      </p:pic>
    </p:spTree>
    <p:extLst>
      <p:ext uri="{BB962C8B-B14F-4D97-AF65-F5344CB8AC3E}">
        <p14:creationId xmlns:p14="http://schemas.microsoft.com/office/powerpoint/2010/main" val="33805541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2EC2D0AF-6E01-0EFC-9921-54D501ACC306}"/>
              </a:ext>
            </a:extLst>
          </p:cNvPr>
          <p:cNvSpPr>
            <a:spLocks noGrp="1"/>
          </p:cNvSpPr>
          <p:nvPr>
            <p:ph type="title"/>
          </p:nvPr>
        </p:nvSpPr>
        <p:spPr/>
        <p:txBody>
          <a:bodyPr/>
          <a:lstStyle/>
          <a:p>
            <a:r>
              <a:rPr lang="de-DE" dirty="0"/>
              <a:t>Fazit</a:t>
            </a:r>
          </a:p>
        </p:txBody>
      </p:sp>
      <p:sp>
        <p:nvSpPr>
          <p:cNvPr id="6" name="Textplatzhalter 5">
            <a:extLst>
              <a:ext uri="{FF2B5EF4-FFF2-40B4-BE49-F238E27FC236}">
                <a16:creationId xmlns:a16="http://schemas.microsoft.com/office/drawing/2014/main" id="{702765DC-809A-5D1E-F656-FD30C9E6C877}"/>
              </a:ext>
            </a:extLst>
          </p:cNvPr>
          <p:cNvSpPr>
            <a:spLocks noGrp="1"/>
          </p:cNvSpPr>
          <p:nvPr>
            <p:ph type="body" idx="1"/>
          </p:nvPr>
        </p:nvSpPr>
        <p:spPr/>
        <p:txBody>
          <a:bodyPr/>
          <a:lstStyle/>
          <a:p>
            <a:endParaRPr lang="de-DE" dirty="0"/>
          </a:p>
        </p:txBody>
      </p:sp>
    </p:spTree>
    <p:extLst>
      <p:ext uri="{BB962C8B-B14F-4D97-AF65-F5344CB8AC3E}">
        <p14:creationId xmlns:p14="http://schemas.microsoft.com/office/powerpoint/2010/main" val="22732484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D385F44-D3D2-CC74-5DCE-9BBF8E0A4FF0}"/>
              </a:ext>
            </a:extLst>
          </p:cNvPr>
          <p:cNvSpPr>
            <a:spLocks noGrp="1"/>
          </p:cNvSpPr>
          <p:nvPr>
            <p:ph type="title"/>
          </p:nvPr>
        </p:nvSpPr>
        <p:spPr/>
        <p:txBody>
          <a:bodyPr/>
          <a:lstStyle/>
          <a:p>
            <a:r>
              <a:rPr lang="de-DE" dirty="0"/>
              <a:t>Projektübersicht</a:t>
            </a:r>
          </a:p>
        </p:txBody>
      </p:sp>
      <p:sp>
        <p:nvSpPr>
          <p:cNvPr id="3" name="Inhaltsplatzhalter 2">
            <a:extLst>
              <a:ext uri="{FF2B5EF4-FFF2-40B4-BE49-F238E27FC236}">
                <a16:creationId xmlns:a16="http://schemas.microsoft.com/office/drawing/2014/main" id="{B29C947F-355C-FF15-071C-D9DF6D16D0B0}"/>
              </a:ext>
            </a:extLst>
          </p:cNvPr>
          <p:cNvSpPr>
            <a:spLocks noGrp="1"/>
          </p:cNvSpPr>
          <p:nvPr>
            <p:ph idx="1"/>
          </p:nvPr>
        </p:nvSpPr>
        <p:spPr/>
        <p:txBody>
          <a:bodyPr>
            <a:normAutofit/>
          </a:bodyPr>
          <a:lstStyle/>
          <a:p>
            <a:r>
              <a:rPr lang="de-DE" dirty="0"/>
              <a:t>Im Exposé:</a:t>
            </a:r>
          </a:p>
          <a:p>
            <a:pPr marL="0" indent="0">
              <a:buNone/>
            </a:pPr>
            <a:r>
              <a:rPr lang="de-DE" dirty="0"/>
              <a:t>	</a:t>
            </a:r>
            <a:r>
              <a:rPr lang="de-DE" sz="2400" dirty="0"/>
              <a:t>„In Folge dieses Projekts, soll ein Spiel-System entwickelt werden, 	welches den Prozess der Prokrastination, die daraus entstehende 	Problemlage und, wenn möglich, potenzielle Lösungsansätze 	illustriert. Dabei soll als Grundlage der Alltagsprozess eines Studenten 	verwendet werden, in welchem Pflicht und Ablenkungen vorhanden 	sind.“</a:t>
            </a:r>
          </a:p>
        </p:txBody>
      </p:sp>
    </p:spTree>
    <p:extLst>
      <p:ext uri="{BB962C8B-B14F-4D97-AF65-F5344CB8AC3E}">
        <p14:creationId xmlns:p14="http://schemas.microsoft.com/office/powerpoint/2010/main" val="5320169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E43E4B1-E62F-2AF1-6558-71A7EDE500E5}"/>
              </a:ext>
            </a:extLst>
          </p:cNvPr>
          <p:cNvSpPr>
            <a:spLocks noGrp="1"/>
          </p:cNvSpPr>
          <p:nvPr>
            <p:ph type="title"/>
          </p:nvPr>
        </p:nvSpPr>
        <p:spPr/>
        <p:txBody>
          <a:bodyPr/>
          <a:lstStyle/>
          <a:p>
            <a:r>
              <a:rPr lang="de-DE" dirty="0"/>
              <a:t>Projektübersicht – Umsetzung</a:t>
            </a:r>
          </a:p>
        </p:txBody>
      </p:sp>
      <p:sp>
        <p:nvSpPr>
          <p:cNvPr id="3" name="Inhaltsplatzhalter 2">
            <a:extLst>
              <a:ext uri="{FF2B5EF4-FFF2-40B4-BE49-F238E27FC236}">
                <a16:creationId xmlns:a16="http://schemas.microsoft.com/office/drawing/2014/main" id="{4BF1D72D-80CC-C8F8-FDF9-78052646AA96}"/>
              </a:ext>
            </a:extLst>
          </p:cNvPr>
          <p:cNvSpPr>
            <a:spLocks noGrp="1"/>
          </p:cNvSpPr>
          <p:nvPr>
            <p:ph idx="1"/>
          </p:nvPr>
        </p:nvSpPr>
        <p:spPr/>
        <p:txBody>
          <a:bodyPr/>
          <a:lstStyle/>
          <a:p>
            <a:r>
              <a:rPr lang="de-DE" dirty="0"/>
              <a:t>Ein Spiel-System wird verwendet</a:t>
            </a:r>
          </a:p>
          <a:p>
            <a:r>
              <a:rPr lang="de-DE" dirty="0"/>
              <a:t>Durch Implikation:</a:t>
            </a:r>
          </a:p>
          <a:p>
            <a:pPr lvl="1"/>
            <a:r>
              <a:rPr lang="de-DE" dirty="0"/>
              <a:t>Aufzeigen des Prozesses von Prokrastination</a:t>
            </a:r>
          </a:p>
          <a:p>
            <a:pPr lvl="1"/>
            <a:r>
              <a:rPr lang="de-DE" dirty="0"/>
              <a:t>Aufzeigen der Problemlage der Prokrastination</a:t>
            </a:r>
          </a:p>
          <a:p>
            <a:pPr lvl="1"/>
            <a:r>
              <a:rPr lang="de-DE" dirty="0"/>
              <a:t>Aufzeigen potenzieller Lösungsansätze</a:t>
            </a:r>
          </a:p>
          <a:p>
            <a:r>
              <a:rPr lang="de-DE" dirty="0"/>
              <a:t>Setting      -&gt; 	Alltag eines Studenten, in welche Pflicht </a:t>
            </a:r>
            <a:br>
              <a:rPr lang="de-DE" dirty="0"/>
            </a:br>
            <a:r>
              <a:rPr lang="de-DE" dirty="0"/>
              <a:t>			und Ablenkungen existieren</a:t>
            </a:r>
          </a:p>
        </p:txBody>
      </p:sp>
    </p:spTree>
    <p:extLst>
      <p:ext uri="{BB962C8B-B14F-4D97-AF65-F5344CB8AC3E}">
        <p14:creationId xmlns:p14="http://schemas.microsoft.com/office/powerpoint/2010/main" val="3116407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B465454-BE60-96B5-879A-DD24C4237D81}"/>
              </a:ext>
            </a:extLst>
          </p:cNvPr>
          <p:cNvSpPr>
            <a:spLocks noGrp="1"/>
          </p:cNvSpPr>
          <p:nvPr>
            <p:ph type="title"/>
          </p:nvPr>
        </p:nvSpPr>
        <p:spPr/>
        <p:txBody>
          <a:bodyPr/>
          <a:lstStyle/>
          <a:p>
            <a:r>
              <a:rPr lang="de-DE" dirty="0"/>
              <a:t>Mechanik Ziele</a:t>
            </a:r>
          </a:p>
        </p:txBody>
      </p:sp>
      <p:sp>
        <p:nvSpPr>
          <p:cNvPr id="4" name="Textplatzhalter 3">
            <a:extLst>
              <a:ext uri="{FF2B5EF4-FFF2-40B4-BE49-F238E27FC236}">
                <a16:creationId xmlns:a16="http://schemas.microsoft.com/office/drawing/2014/main" id="{08D131D7-016E-0C14-7DE9-0B6AE3CEDBC3}"/>
              </a:ext>
            </a:extLst>
          </p:cNvPr>
          <p:cNvSpPr>
            <a:spLocks noGrp="1"/>
          </p:cNvSpPr>
          <p:nvPr>
            <p:ph type="body" idx="1"/>
          </p:nvPr>
        </p:nvSpPr>
        <p:spPr/>
        <p:txBody>
          <a:bodyPr/>
          <a:lstStyle/>
          <a:p>
            <a:r>
              <a:rPr lang="de-DE" dirty="0"/>
              <a:t>Ziele im Exposé</a:t>
            </a:r>
          </a:p>
        </p:txBody>
      </p:sp>
      <p:sp>
        <p:nvSpPr>
          <p:cNvPr id="5" name="Inhaltsplatzhalter 4">
            <a:extLst>
              <a:ext uri="{FF2B5EF4-FFF2-40B4-BE49-F238E27FC236}">
                <a16:creationId xmlns:a16="http://schemas.microsoft.com/office/drawing/2014/main" id="{81C28349-364D-63A8-8369-3518F1E976DE}"/>
              </a:ext>
            </a:extLst>
          </p:cNvPr>
          <p:cNvSpPr>
            <a:spLocks noGrp="1"/>
          </p:cNvSpPr>
          <p:nvPr>
            <p:ph sz="half" idx="2"/>
          </p:nvPr>
        </p:nvSpPr>
        <p:spPr/>
        <p:txBody>
          <a:bodyPr>
            <a:normAutofit fontScale="77500" lnSpcReduction="20000"/>
          </a:bodyPr>
          <a:lstStyle/>
          <a:p>
            <a:r>
              <a:rPr lang="de-DE" dirty="0"/>
              <a:t>Zeitmanagement</a:t>
            </a:r>
          </a:p>
          <a:p>
            <a:r>
              <a:rPr lang="de-DE" dirty="0"/>
              <a:t>Stress-/Gesundheitszustand</a:t>
            </a:r>
          </a:p>
          <a:p>
            <a:r>
              <a:rPr lang="de-DE" dirty="0"/>
              <a:t>Aufgaben(Arbeiten)</a:t>
            </a:r>
          </a:p>
          <a:p>
            <a:r>
              <a:rPr lang="de-DE" dirty="0"/>
              <a:t>Aktivitäten(Spielen + Schlafen)</a:t>
            </a:r>
          </a:p>
          <a:p>
            <a:r>
              <a:rPr lang="de-DE" dirty="0"/>
              <a:t>2 Spielenden</a:t>
            </a:r>
          </a:p>
          <a:p>
            <a:r>
              <a:rPr lang="de-DE" dirty="0"/>
              <a:t>Visuelle Repräsentation der Parameter</a:t>
            </a:r>
          </a:p>
          <a:p>
            <a:pPr lvl="1"/>
            <a:r>
              <a:rPr lang="de-DE" dirty="0"/>
              <a:t>„visuelle Effekte wie Licht und Schatte, Inszenierung der Kamera …“</a:t>
            </a:r>
          </a:p>
        </p:txBody>
      </p:sp>
      <p:sp>
        <p:nvSpPr>
          <p:cNvPr id="6" name="Textplatzhalter 5">
            <a:extLst>
              <a:ext uri="{FF2B5EF4-FFF2-40B4-BE49-F238E27FC236}">
                <a16:creationId xmlns:a16="http://schemas.microsoft.com/office/drawing/2014/main" id="{D32F8139-D4CE-0A34-A258-2CF87155053B}"/>
              </a:ext>
            </a:extLst>
          </p:cNvPr>
          <p:cNvSpPr>
            <a:spLocks noGrp="1"/>
          </p:cNvSpPr>
          <p:nvPr>
            <p:ph type="body" sz="quarter" idx="3"/>
          </p:nvPr>
        </p:nvSpPr>
        <p:spPr/>
        <p:txBody>
          <a:bodyPr/>
          <a:lstStyle/>
          <a:p>
            <a:r>
              <a:rPr lang="de-DE" dirty="0"/>
              <a:t>Umgesetzt</a:t>
            </a:r>
          </a:p>
        </p:txBody>
      </p:sp>
      <p:sp>
        <p:nvSpPr>
          <p:cNvPr id="7" name="Inhaltsplatzhalter 6">
            <a:extLst>
              <a:ext uri="{FF2B5EF4-FFF2-40B4-BE49-F238E27FC236}">
                <a16:creationId xmlns:a16="http://schemas.microsoft.com/office/drawing/2014/main" id="{DD7AF23F-ACFA-4A45-A3CC-5EAA52B613B8}"/>
              </a:ext>
            </a:extLst>
          </p:cNvPr>
          <p:cNvSpPr>
            <a:spLocks noGrp="1"/>
          </p:cNvSpPr>
          <p:nvPr>
            <p:ph sz="quarter" idx="4"/>
          </p:nvPr>
        </p:nvSpPr>
        <p:spPr/>
        <p:txBody>
          <a:bodyPr>
            <a:normAutofit fontScale="77500" lnSpcReduction="20000"/>
          </a:bodyPr>
          <a:lstStyle/>
          <a:p>
            <a:r>
              <a:rPr lang="de-DE" dirty="0"/>
              <a:t>Zeitmanagement</a:t>
            </a:r>
          </a:p>
          <a:p>
            <a:r>
              <a:rPr lang="de-DE" dirty="0"/>
              <a:t>Stress-/Gesundheitszustand</a:t>
            </a:r>
          </a:p>
          <a:p>
            <a:r>
              <a:rPr lang="de-DE" dirty="0"/>
              <a:t>Aufgaben(Arbeiten)</a:t>
            </a:r>
          </a:p>
          <a:p>
            <a:r>
              <a:rPr lang="de-DE" dirty="0"/>
              <a:t>Aktivitäten(Spielen + Schlafen)</a:t>
            </a:r>
          </a:p>
          <a:p>
            <a:r>
              <a:rPr lang="de-DE" dirty="0"/>
              <a:t>2 Spielenden</a:t>
            </a:r>
          </a:p>
          <a:p>
            <a:r>
              <a:rPr lang="de-DE" dirty="0"/>
              <a:t>Visuelle Repräsentation der Parameter</a:t>
            </a:r>
          </a:p>
          <a:p>
            <a:pPr lvl="1"/>
            <a:r>
              <a:rPr lang="de-DE" dirty="0"/>
              <a:t>Shader</a:t>
            </a:r>
          </a:p>
          <a:p>
            <a:pPr lvl="1"/>
            <a:r>
              <a:rPr lang="de-DE" dirty="0"/>
              <a:t>Dynamische Character Sprites</a:t>
            </a:r>
          </a:p>
          <a:p>
            <a:pPr lvl="1"/>
            <a:r>
              <a:rPr lang="de-DE" dirty="0"/>
              <a:t>Texttransformation</a:t>
            </a:r>
          </a:p>
          <a:p>
            <a:r>
              <a:rPr lang="de-DE" dirty="0"/>
              <a:t>Story-Line</a:t>
            </a:r>
          </a:p>
          <a:p>
            <a:r>
              <a:rPr lang="de-DE" dirty="0"/>
              <a:t>Tooltips</a:t>
            </a:r>
          </a:p>
          <a:p>
            <a:pPr lvl="1"/>
            <a:endParaRPr lang="de-DE" dirty="0"/>
          </a:p>
          <a:p>
            <a:endParaRPr lang="de-DE" dirty="0"/>
          </a:p>
        </p:txBody>
      </p:sp>
    </p:spTree>
    <p:extLst>
      <p:ext uri="{BB962C8B-B14F-4D97-AF65-F5344CB8AC3E}">
        <p14:creationId xmlns:p14="http://schemas.microsoft.com/office/powerpoint/2010/main" val="5324200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F1654B84-D8BF-2C53-407A-7E30C08AA114}"/>
              </a:ext>
            </a:extLst>
          </p:cNvPr>
          <p:cNvSpPr>
            <a:spLocks noGrp="1"/>
          </p:cNvSpPr>
          <p:nvPr>
            <p:ph type="title"/>
          </p:nvPr>
        </p:nvSpPr>
        <p:spPr/>
        <p:txBody>
          <a:bodyPr/>
          <a:lstStyle/>
          <a:p>
            <a:r>
              <a:rPr lang="de-DE" dirty="0"/>
              <a:t>Wo gab es Probleme?</a:t>
            </a:r>
          </a:p>
        </p:txBody>
      </p:sp>
      <p:sp>
        <p:nvSpPr>
          <p:cNvPr id="8" name="Inhaltsplatzhalter 7">
            <a:extLst>
              <a:ext uri="{FF2B5EF4-FFF2-40B4-BE49-F238E27FC236}">
                <a16:creationId xmlns:a16="http://schemas.microsoft.com/office/drawing/2014/main" id="{8DDC8A73-875C-F51B-78E8-C9D0C9239A59}"/>
              </a:ext>
            </a:extLst>
          </p:cNvPr>
          <p:cNvSpPr>
            <a:spLocks noGrp="1"/>
          </p:cNvSpPr>
          <p:nvPr>
            <p:ph idx="1"/>
          </p:nvPr>
        </p:nvSpPr>
        <p:spPr/>
        <p:txBody>
          <a:bodyPr/>
          <a:lstStyle/>
          <a:p>
            <a:r>
              <a:rPr lang="de-DE" dirty="0"/>
              <a:t>Erstellung von PoCs</a:t>
            </a:r>
          </a:p>
          <a:p>
            <a:r>
              <a:rPr lang="de-DE" dirty="0"/>
              <a:t>Kommunikation in Audit 3 -&gt; Über Notwendigkeit einer Story</a:t>
            </a:r>
          </a:p>
          <a:p>
            <a:r>
              <a:rPr lang="de-DE" dirty="0" err="1"/>
              <a:t>Merge</a:t>
            </a:r>
            <a:r>
              <a:rPr lang="de-DE" dirty="0"/>
              <a:t> Konflikte -&gt; Wer arbeitet an welcher Scene</a:t>
            </a:r>
          </a:p>
          <a:p>
            <a:pPr lvl="1"/>
            <a:r>
              <a:rPr lang="de-DE" dirty="0"/>
              <a:t>Projekt nicht Modular genug</a:t>
            </a:r>
          </a:p>
          <a:p>
            <a:r>
              <a:rPr lang="de-DE" dirty="0"/>
              <a:t>Lösungen mussten kurzfristig gewechselt werden</a:t>
            </a:r>
          </a:p>
          <a:p>
            <a:r>
              <a:rPr lang="de-DE" dirty="0"/>
              <a:t>Code nicht „Clean“</a:t>
            </a:r>
          </a:p>
        </p:txBody>
      </p:sp>
    </p:spTree>
    <p:extLst>
      <p:ext uri="{BB962C8B-B14F-4D97-AF65-F5344CB8AC3E}">
        <p14:creationId xmlns:p14="http://schemas.microsoft.com/office/powerpoint/2010/main" val="9174909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0E3C1BC-A3EE-40CD-CBD9-E64FEC8E8CB5}"/>
              </a:ext>
            </a:extLst>
          </p:cNvPr>
          <p:cNvSpPr>
            <a:spLocks noGrp="1"/>
          </p:cNvSpPr>
          <p:nvPr>
            <p:ph type="title"/>
          </p:nvPr>
        </p:nvSpPr>
        <p:spPr/>
        <p:txBody>
          <a:bodyPr/>
          <a:lstStyle/>
          <a:p>
            <a:r>
              <a:rPr lang="de-DE" dirty="0"/>
              <a:t>Ausblick für potenzielle Weiterentwicklung </a:t>
            </a:r>
          </a:p>
        </p:txBody>
      </p:sp>
      <p:sp>
        <p:nvSpPr>
          <p:cNvPr id="3" name="Inhaltsplatzhalter 2">
            <a:extLst>
              <a:ext uri="{FF2B5EF4-FFF2-40B4-BE49-F238E27FC236}">
                <a16:creationId xmlns:a16="http://schemas.microsoft.com/office/drawing/2014/main" id="{AA7CB01A-026B-1312-E6E8-FB00473CFD78}"/>
              </a:ext>
            </a:extLst>
          </p:cNvPr>
          <p:cNvSpPr>
            <a:spLocks noGrp="1"/>
          </p:cNvSpPr>
          <p:nvPr>
            <p:ph idx="1"/>
          </p:nvPr>
        </p:nvSpPr>
        <p:spPr/>
        <p:txBody>
          <a:bodyPr>
            <a:normAutofit fontScale="92500"/>
          </a:bodyPr>
          <a:lstStyle/>
          <a:p>
            <a:r>
              <a:rPr lang="de-DE" dirty="0"/>
              <a:t>Animation erweitern und verfeinern</a:t>
            </a:r>
          </a:p>
          <a:p>
            <a:r>
              <a:rPr lang="de-DE" dirty="0"/>
              <a:t>Benutzeroberfläche stilistisch an Raum und Character anpassen</a:t>
            </a:r>
          </a:p>
          <a:p>
            <a:r>
              <a:rPr lang="de-DE" dirty="0"/>
              <a:t>Story-Line erweitern</a:t>
            </a:r>
          </a:p>
          <a:p>
            <a:r>
              <a:rPr lang="de-DE" dirty="0"/>
              <a:t>Weitere Freizeitaktivitäten und Arbeitstätigkeiten hinzufügen</a:t>
            </a:r>
          </a:p>
          <a:p>
            <a:r>
              <a:rPr lang="de-DE" dirty="0"/>
              <a:t>Soundeffekte und Musik</a:t>
            </a:r>
          </a:p>
          <a:p>
            <a:r>
              <a:rPr lang="de-DE" dirty="0"/>
              <a:t>Sub-Deadlines -&gt; PoC 311</a:t>
            </a:r>
          </a:p>
          <a:p>
            <a:r>
              <a:rPr lang="de-DE" dirty="0"/>
              <a:t>Weitere Level, für einen graduellen Anstieg der Herausforderung des Zeitmanagements</a:t>
            </a:r>
          </a:p>
          <a:p>
            <a:r>
              <a:rPr lang="de-DE" dirty="0"/>
              <a:t>Mini-Spiele bei Aktivitäten, und Aufgaben -&gt; Simulation von Aufgaben</a:t>
            </a:r>
          </a:p>
          <a:p>
            <a:endParaRPr lang="de-DE" dirty="0"/>
          </a:p>
          <a:p>
            <a:endParaRPr lang="de-DE" dirty="0"/>
          </a:p>
        </p:txBody>
      </p:sp>
    </p:spTree>
    <p:extLst>
      <p:ext uri="{BB962C8B-B14F-4D97-AF65-F5344CB8AC3E}">
        <p14:creationId xmlns:p14="http://schemas.microsoft.com/office/powerpoint/2010/main" val="10473338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116C210D-1C8B-213B-D975-0E99FE52CEFA}"/>
              </a:ext>
            </a:extLst>
          </p:cNvPr>
          <p:cNvSpPr>
            <a:spLocks noGrp="1"/>
          </p:cNvSpPr>
          <p:nvPr>
            <p:ph type="title"/>
          </p:nvPr>
        </p:nvSpPr>
        <p:spPr/>
        <p:txBody>
          <a:bodyPr/>
          <a:lstStyle/>
          <a:p>
            <a:r>
              <a:rPr lang="de-DE" dirty="0"/>
              <a:t>Fragen?</a:t>
            </a:r>
          </a:p>
        </p:txBody>
      </p:sp>
      <p:sp>
        <p:nvSpPr>
          <p:cNvPr id="5" name="Textplatzhalter 4">
            <a:extLst>
              <a:ext uri="{FF2B5EF4-FFF2-40B4-BE49-F238E27FC236}">
                <a16:creationId xmlns:a16="http://schemas.microsoft.com/office/drawing/2014/main" id="{A104DCEB-22ED-2A78-4BD7-F8671397F46D}"/>
              </a:ext>
            </a:extLst>
          </p:cNvPr>
          <p:cNvSpPr>
            <a:spLocks noGrp="1"/>
          </p:cNvSpPr>
          <p:nvPr>
            <p:ph type="body" idx="1"/>
          </p:nvPr>
        </p:nvSpPr>
        <p:spPr/>
        <p:txBody>
          <a:bodyPr/>
          <a:lstStyle/>
          <a:p>
            <a:r>
              <a:rPr lang="de-DE" dirty="0"/>
              <a:t>Gibt es noch Fragen?</a:t>
            </a:r>
          </a:p>
        </p:txBody>
      </p:sp>
    </p:spTree>
    <p:extLst>
      <p:ext uri="{BB962C8B-B14F-4D97-AF65-F5344CB8AC3E}">
        <p14:creationId xmlns:p14="http://schemas.microsoft.com/office/powerpoint/2010/main" val="4069155300"/>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BC919105FFA9D24EA29DA92E4BAE0F6D" ma:contentTypeVersion="9" ma:contentTypeDescription="Ein neues Dokument erstellen." ma:contentTypeScope="" ma:versionID="c5f3dcda09ee87f7c1472cf4c9361746">
  <xsd:schema xmlns:xsd="http://www.w3.org/2001/XMLSchema" xmlns:xs="http://www.w3.org/2001/XMLSchema" xmlns:p="http://schemas.microsoft.com/office/2006/metadata/properties" xmlns:ns3="64d4f4c4-2b3e-4922-8805-528ba7a130aa" xmlns:ns4="80ea3703-f672-4c39-8e7b-6098df378bba" targetNamespace="http://schemas.microsoft.com/office/2006/metadata/properties" ma:root="true" ma:fieldsID="586a1eeeeb3b1baab4bffa54ab0ae5d2" ns3:_="" ns4:_="">
    <xsd:import namespace="64d4f4c4-2b3e-4922-8805-528ba7a130aa"/>
    <xsd:import namespace="80ea3703-f672-4c39-8e7b-6098df378bba"/>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3:MediaServiceSearchProperties" minOccurs="0"/>
                <xsd:element ref="ns4:SharedWithUsers" minOccurs="0"/>
                <xsd:element ref="ns4:SharedWithDetails" minOccurs="0"/>
                <xsd:element ref="ns4:SharingHintHash"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4d4f4c4-2b3e-4922-8805-528ba7a130a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0ea3703-f672-4c39-8e7b-6098df378bba" elementFormDefault="qualified">
    <xsd:import namespace="http://schemas.microsoft.com/office/2006/documentManagement/types"/>
    <xsd:import namespace="http://schemas.microsoft.com/office/infopath/2007/PartnerControls"/>
    <xsd:element name="SharedWithUsers" ma:index="13"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Freigegeben für - Details" ma:internalName="SharedWithDetails" ma:readOnly="true">
      <xsd:simpleType>
        <xsd:restriction base="dms:Note">
          <xsd:maxLength value="255"/>
        </xsd:restriction>
      </xsd:simpleType>
    </xsd:element>
    <xsd:element name="SharingHintHash" ma:index="15" nillable="true" ma:displayName="Freigabehinweis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64d4f4c4-2b3e-4922-8805-528ba7a130aa" xsi:nil="true"/>
  </documentManagement>
</p:properties>
</file>

<file path=customXml/itemProps1.xml><?xml version="1.0" encoding="utf-8"?>
<ds:datastoreItem xmlns:ds="http://schemas.openxmlformats.org/officeDocument/2006/customXml" ds:itemID="{92EE2AA5-F41D-4DB7-8102-ED4DFCF77BB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4d4f4c4-2b3e-4922-8805-528ba7a130aa"/>
    <ds:schemaRef ds:uri="80ea3703-f672-4c39-8e7b-6098df378bb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3AB683F-F636-4C14-A29E-513F60EDF32B}">
  <ds:schemaRefs>
    <ds:schemaRef ds:uri="http://schemas.microsoft.com/sharepoint/v3/contenttype/forms"/>
  </ds:schemaRefs>
</ds:datastoreItem>
</file>

<file path=customXml/itemProps3.xml><?xml version="1.0" encoding="utf-8"?>
<ds:datastoreItem xmlns:ds="http://schemas.openxmlformats.org/officeDocument/2006/customXml" ds:itemID="{FE97FF04-BF59-4ABE-B8D7-D299FEB096BA}">
  <ds:schemaRefs>
    <ds:schemaRef ds:uri="http://purl.org/dc/dcmitype/"/>
    <ds:schemaRef ds:uri="http://purl.org/dc/elements/1.1/"/>
    <ds:schemaRef ds:uri="64d4f4c4-2b3e-4922-8805-528ba7a130aa"/>
    <ds:schemaRef ds:uri="http://schemas.microsoft.com/office/2006/metadata/properties"/>
    <ds:schemaRef ds:uri="http://purl.org/dc/terms/"/>
    <ds:schemaRef ds:uri="http://www.w3.org/XML/1998/namespace"/>
    <ds:schemaRef ds:uri="http://schemas.microsoft.com/office/2006/documentManagement/types"/>
    <ds:schemaRef ds:uri="http://schemas.microsoft.com/office/infopath/2007/PartnerControls"/>
    <ds:schemaRef ds:uri="http://schemas.openxmlformats.org/package/2006/metadata/core-properties"/>
    <ds:schemaRef ds:uri="80ea3703-f672-4c39-8e7b-6098df378bba"/>
  </ds:schemaRefs>
</ds:datastoreItem>
</file>

<file path=docProps/app.xml><?xml version="1.0" encoding="utf-8"?>
<Properties xmlns="http://schemas.openxmlformats.org/officeDocument/2006/extended-properties" xmlns:vt="http://schemas.openxmlformats.org/officeDocument/2006/docPropsVTypes">
  <TotalTime>0</TotalTime>
  <Words>1121</Words>
  <Application>Microsoft Office PowerPoint</Application>
  <PresentationFormat>Breitbild</PresentationFormat>
  <Paragraphs>105</Paragraphs>
  <Slides>13</Slides>
  <Notes>13</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13</vt:i4>
      </vt:variant>
    </vt:vector>
  </HeadingPairs>
  <TitlesOfParts>
    <vt:vector size="18" baseType="lpstr">
      <vt:lpstr>Aptos</vt:lpstr>
      <vt:lpstr>Aptos Display</vt:lpstr>
      <vt:lpstr>Arial</vt:lpstr>
      <vt:lpstr>Calibri</vt:lpstr>
      <vt:lpstr>Office</vt:lpstr>
      <vt:lpstr>Audit 4</vt:lpstr>
      <vt:lpstr>Demonstration</vt:lpstr>
      <vt:lpstr>Code Inspektion</vt:lpstr>
      <vt:lpstr>PowerPoint-Präsentation</vt:lpstr>
      <vt:lpstr>Code Inspektion</vt:lpstr>
      <vt:lpstr>Handlungsstrang        Tooltips</vt:lpstr>
      <vt:lpstr>Fazit</vt:lpstr>
      <vt:lpstr>Projektübersicht</vt:lpstr>
      <vt:lpstr>Projektübersicht – Umsetzung</vt:lpstr>
      <vt:lpstr>Mechanik Ziele</vt:lpstr>
      <vt:lpstr>Wo gab es Probleme?</vt:lpstr>
      <vt:lpstr>Ausblick für potenzielle Weiterentwicklung </vt:lpstr>
      <vt:lpstr>Fragen?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Robin Schlegel (rschlege)</dc:creator>
  <cp:lastModifiedBy>Robin Schlegel (rschlege)</cp:lastModifiedBy>
  <cp:revision>3</cp:revision>
  <dcterms:created xsi:type="dcterms:W3CDTF">2026-02-19T12:07:37Z</dcterms:created>
  <dcterms:modified xsi:type="dcterms:W3CDTF">2026-02-20T01:01:05Z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0x010100BC919105FFA9D24EA29DA92E4BAE0F6D</vt:lpwstr>
  </property>
</Properties>
</file>