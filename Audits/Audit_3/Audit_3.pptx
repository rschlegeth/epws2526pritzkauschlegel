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60" r:id="rId7"/>
    <p:sldId id="261" r:id="rId8"/>
    <p:sldId id="262" r:id="rId9"/>
    <p:sldId id="265" r:id="rId10"/>
    <p:sldId id="258" r:id="rId11"/>
    <p:sldId id="259" r:id="rId12"/>
    <p:sldId id="263" r:id="rId13"/>
    <p:sldId id="264"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71479-CFCA-4F3C-AD52-D152C8BB3FF8}" v="3349" dt="2026-01-15T21:54:06.875"/>
    <p1510:client id="{53D44767-C671-8ECB-FD3D-3AF7B73C5841}" v="16" dt="2026-01-15T20:47:30.510"/>
    <p1510:client id="{993E3FD7-D87B-DDAF-4BEF-DF2348A22F06}" v="191" dt="2026-01-15T21:57:04.5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1" d="100"/>
          <a:sy n="151" d="100"/>
        </p:scale>
        <p:origin x="65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23C182-8C90-42CC-9F6F-16833FA6DB58}" type="datetimeFigureOut">
              <a:rPr lang="de-DE" smtClean="0"/>
              <a:t>15.01.2026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8CA69-E461-4C14-8D61-FFB15030F213}" type="slidenum">
              <a:rPr lang="de-DE" smtClean="0"/>
              <a:t>‹Nr.›</a:t>
            </a:fld>
            <a:endParaRPr lang="de-DE"/>
          </a:p>
        </p:txBody>
      </p:sp>
    </p:spTree>
    <p:extLst>
      <p:ext uri="{BB962C8B-B14F-4D97-AF65-F5344CB8AC3E}">
        <p14:creationId xmlns:p14="http://schemas.microsoft.com/office/powerpoint/2010/main" val="1592734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Hier eine kurze Wiederholung zum Wiedereinstieg in das Projekt. </a:t>
            </a:r>
            <a:br>
              <a:rPr lang="de-DE"/>
            </a:br>
            <a:r>
              <a:rPr lang="de-DE"/>
              <a:t>Der Fokus des Projekts ist die Entwicklung eines Spiels, welches Prokrastination simuliert und die Problematik und damit verbundene Lösungsansätze dem Spieler näher bringt. Es soll also dem Spieler durch das Spielen des Spiels möglich sein, Rückschlüsse auf den Sachverhalt in der Realität zu ziehen, welche es dem Spieler ermöglichen Anpassungen im eigenen Leben durchzuführen.</a:t>
            </a:r>
          </a:p>
          <a:p>
            <a:r>
              <a:rPr lang="de-DE"/>
              <a:t>Da es hier in den Open Spaces Unklarheiten gab, gilt es auch kurz zu erwähnen, dass das Ziel des Projekts es nicht ist, einen Prokrastinations-Helfer zu erstellen, welcher den Nutzer über den Alltag begleitet und den Nutzer coacht.</a:t>
            </a:r>
          </a:p>
        </p:txBody>
      </p:sp>
      <p:sp>
        <p:nvSpPr>
          <p:cNvPr id="4" name="Foliennummernplatzhalter 3"/>
          <p:cNvSpPr>
            <a:spLocks noGrp="1"/>
          </p:cNvSpPr>
          <p:nvPr>
            <p:ph type="sldNum" sz="quarter" idx="5"/>
          </p:nvPr>
        </p:nvSpPr>
        <p:spPr/>
        <p:txBody>
          <a:bodyPr/>
          <a:lstStyle/>
          <a:p>
            <a:fld id="{F3A8CA69-E461-4C14-8D61-FFB15030F213}" type="slidenum">
              <a:rPr lang="de-DE" smtClean="0"/>
              <a:t>2</a:t>
            </a:fld>
            <a:endParaRPr lang="de-DE"/>
          </a:p>
        </p:txBody>
      </p:sp>
    </p:spTree>
    <p:extLst>
      <p:ext uri="{BB962C8B-B14F-4D97-AF65-F5344CB8AC3E}">
        <p14:creationId xmlns:p14="http://schemas.microsoft.com/office/powerpoint/2010/main" val="3424880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Hier bitte das Video aus dem Audit Ordner abspielen.</a:t>
            </a:r>
          </a:p>
        </p:txBody>
      </p:sp>
      <p:sp>
        <p:nvSpPr>
          <p:cNvPr id="4" name="Foliennummernplatzhalter 3"/>
          <p:cNvSpPr>
            <a:spLocks noGrp="1"/>
          </p:cNvSpPr>
          <p:nvPr>
            <p:ph type="sldNum" sz="quarter" idx="5"/>
          </p:nvPr>
        </p:nvSpPr>
        <p:spPr/>
        <p:txBody>
          <a:bodyPr/>
          <a:lstStyle/>
          <a:p>
            <a:fld id="{F3A8CA69-E461-4C14-8D61-FFB15030F213}" type="slidenum">
              <a:rPr lang="de-DE" smtClean="0"/>
              <a:t>3</a:t>
            </a:fld>
            <a:endParaRPr lang="de-DE"/>
          </a:p>
        </p:txBody>
      </p:sp>
    </p:spTree>
    <p:extLst>
      <p:ext uri="{BB962C8B-B14F-4D97-AF65-F5344CB8AC3E}">
        <p14:creationId xmlns:p14="http://schemas.microsoft.com/office/powerpoint/2010/main" val="425799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Hier zu sehen ist eine Übersicht der durchgeführten PoCs. Wie hier zu sehen wurden bisher nur die Parameter spezifischen PoCs und einige UI PoCs implementiert. Die anderen PoCs sind oft auf den Inhalt des 4.ten Audits angedacht. </a:t>
            </a:r>
            <a:br>
              <a:rPr lang="de-DE"/>
            </a:br>
            <a:endParaRPr lang="de-DE"/>
          </a:p>
          <a:p>
            <a:r>
              <a:rPr lang="de-DE"/>
              <a:t>Diese Ansicht soll aber lediglich kurz zeigen welche PoCs durchgeführt wurden, in der Präsentation vor Ort wird dies hier lediglich Überflogen.</a:t>
            </a:r>
          </a:p>
        </p:txBody>
      </p:sp>
      <p:sp>
        <p:nvSpPr>
          <p:cNvPr id="4" name="Foliennummernplatzhalter 3"/>
          <p:cNvSpPr>
            <a:spLocks noGrp="1"/>
          </p:cNvSpPr>
          <p:nvPr>
            <p:ph type="sldNum" sz="quarter" idx="5"/>
          </p:nvPr>
        </p:nvSpPr>
        <p:spPr/>
        <p:txBody>
          <a:bodyPr/>
          <a:lstStyle/>
          <a:p>
            <a:fld id="{F3A8CA69-E461-4C14-8D61-FFB15030F213}" type="slidenum">
              <a:rPr lang="de-DE" smtClean="0"/>
              <a:t>4</a:t>
            </a:fld>
            <a:endParaRPr lang="de-DE"/>
          </a:p>
        </p:txBody>
      </p:sp>
    </p:spTree>
    <p:extLst>
      <p:ext uri="{BB962C8B-B14F-4D97-AF65-F5344CB8AC3E}">
        <p14:creationId xmlns:p14="http://schemas.microsoft.com/office/powerpoint/2010/main" val="2114722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Hier sind zwei Funktionen zu sehen, einmal die Funktion </a:t>
            </a:r>
            <a:r>
              <a:rPr lang="de-DE" err="1"/>
              <a:t>calcGes</a:t>
            </a:r>
            <a:r>
              <a:rPr lang="de-DE"/>
              <a:t>() welche berechnet, um welchen Wert die variable Gesundheit, pro Sekunde ansteigt, und die Funktion </a:t>
            </a:r>
            <a:r>
              <a:rPr lang="de-DE" err="1"/>
              <a:t>calcProductivity</a:t>
            </a:r>
            <a:r>
              <a:rPr lang="de-DE"/>
              <a:t>, welche die </a:t>
            </a:r>
            <a:r>
              <a:rPr lang="de-DE" err="1"/>
              <a:t>productivity</a:t>
            </a:r>
            <a:r>
              <a:rPr lang="de-DE"/>
              <a:t> variable berechnet, welche später benutzt wird, um zu berechnen, wie effektiv der Spieler seine Aufgaben erfüllen kann. Wenn man ins Interaktionsmodell schaut, sieht man dass, {g} (hier </a:t>
            </a:r>
            <a:r>
              <a:rPr lang="de-DE" err="1"/>
              <a:t>g_mod</a:t>
            </a:r>
            <a:r>
              <a:rPr lang="de-DE"/>
              <a:t>) sich zum einen aus der Zeit seit  Schlaf und dem Stresswert zusammen setzt. In der Funktion kann man das hier an den variables </a:t>
            </a:r>
            <a:r>
              <a:rPr lang="de-DE" err="1"/>
              <a:t>ticksSinceSleepPortion</a:t>
            </a:r>
            <a:r>
              <a:rPr lang="de-DE"/>
              <a:t> und </a:t>
            </a:r>
            <a:r>
              <a:rPr lang="de-DE" err="1"/>
              <a:t>stressPortion</a:t>
            </a:r>
            <a:r>
              <a:rPr lang="de-DE"/>
              <a:t> sehen, welche in Zeile 45 zusammen gerechnet </a:t>
            </a:r>
            <a:r>
              <a:rPr lang="de-DE" err="1"/>
              <a:t>g_mod</a:t>
            </a:r>
            <a:r>
              <a:rPr lang="de-DE"/>
              <a:t> ergeben. Um den Einfluss dieser variables zu berechnen benutzen wir hier Graphen welche sich einfach verändern lassen. Hier kann man zum Beispiel gut sehen dass, für </a:t>
            </a:r>
            <a:r>
              <a:rPr lang="de-DE" err="1"/>
              <a:t>ticksSinceSleep</a:t>
            </a:r>
            <a:r>
              <a:rPr lang="de-DE"/>
              <a:t> die variable erst ab einen bestimmten Wert einen negativen Einfluss hat (hier, ungefähr 16 stunden ohne Schlaf) und für stress der Einfluss konstant steigt. Über den Einfluss von Stress auf Gesundheit haben wir uns grob auf Studien bezogen, da wir aber keine Studien finden konnten die uns konkrete Werte liefern konnten wir uns nur daran orientieren dass, höherer Stress zu schlechterer Gesundheit führt. Die konkreten Werte haben wir dann im </a:t>
            </a:r>
            <a:r>
              <a:rPr lang="de-DE" err="1"/>
              <a:t>Playtesting</a:t>
            </a:r>
            <a:r>
              <a:rPr lang="de-DE"/>
              <a:t> auf unser Ziel angepasst. In Zeile 47 wird die variable </a:t>
            </a:r>
            <a:r>
              <a:rPr lang="de-DE" err="1"/>
              <a:t>g_mod</a:t>
            </a:r>
            <a:r>
              <a:rPr lang="de-DE"/>
              <a:t> dann auf die variable </a:t>
            </a:r>
            <a:r>
              <a:rPr lang="de-DE" err="1"/>
              <a:t>gesundheit</a:t>
            </a:r>
            <a:r>
              <a:rPr lang="de-DE"/>
              <a:t> addiert. </a:t>
            </a:r>
          </a:p>
          <a:p>
            <a:r>
              <a:rPr lang="de-DE"/>
              <a:t>Die </a:t>
            </a:r>
            <a:r>
              <a:rPr lang="de-DE" err="1"/>
              <a:t>funktion</a:t>
            </a:r>
            <a:r>
              <a:rPr lang="de-DE"/>
              <a:t> </a:t>
            </a:r>
            <a:r>
              <a:rPr lang="de-DE" err="1"/>
              <a:t>calcStress</a:t>
            </a:r>
            <a:r>
              <a:rPr lang="de-DE"/>
              <a:t> welche den Stresswert berechnet ist ähnlich aufgebaut wie </a:t>
            </a:r>
            <a:r>
              <a:rPr lang="de-DE" err="1"/>
              <a:t>calcGes</a:t>
            </a:r>
          </a:p>
          <a:p>
            <a:r>
              <a:rPr lang="de-DE"/>
              <a:t>Im Interaktionsmodell kann man sehen dass die </a:t>
            </a:r>
            <a:r>
              <a:rPr lang="de-DE" err="1"/>
              <a:t>productivity</a:t>
            </a:r>
            <a:r>
              <a:rPr lang="de-DE"/>
              <a:t> sich aus dem Stresswert, dem Gesundheitswert und der Zeit seit Schlaf zusammen setzt. Im Code geschieht das in Zeile 66 wo die hälfte Gesundheit und die hälfte Stress, dann mit einem weiteren </a:t>
            </a:r>
            <a:r>
              <a:rPr lang="de-DE" err="1"/>
              <a:t>graphen</a:t>
            </a:r>
            <a:r>
              <a:rPr lang="de-DE"/>
              <a:t> für </a:t>
            </a:r>
            <a:r>
              <a:rPr lang="de-DE" err="1"/>
              <a:t>timeSinceSleep</a:t>
            </a:r>
            <a:r>
              <a:rPr lang="de-DE"/>
              <a:t> multipliziert wird.</a:t>
            </a:r>
          </a:p>
        </p:txBody>
      </p:sp>
      <p:sp>
        <p:nvSpPr>
          <p:cNvPr id="4" name="Foliennummernplatzhalter 3"/>
          <p:cNvSpPr>
            <a:spLocks noGrp="1"/>
          </p:cNvSpPr>
          <p:nvPr>
            <p:ph type="sldNum" sz="quarter" idx="5"/>
          </p:nvPr>
        </p:nvSpPr>
        <p:spPr/>
        <p:txBody>
          <a:bodyPr/>
          <a:lstStyle/>
          <a:p>
            <a:fld id="{F3A8CA69-E461-4C14-8D61-FFB15030F213}" type="slidenum">
              <a:rPr lang="de-DE" smtClean="0"/>
              <a:t>5</a:t>
            </a:fld>
            <a:endParaRPr lang="de-DE"/>
          </a:p>
        </p:txBody>
      </p:sp>
    </p:spTree>
    <p:extLst>
      <p:ext uri="{BB962C8B-B14F-4D97-AF65-F5344CB8AC3E}">
        <p14:creationId xmlns:p14="http://schemas.microsoft.com/office/powerpoint/2010/main" val="1650539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Siehe Code Inspektion.</a:t>
            </a:r>
          </a:p>
        </p:txBody>
      </p:sp>
      <p:sp>
        <p:nvSpPr>
          <p:cNvPr id="4" name="Foliennummernplatzhalter 3"/>
          <p:cNvSpPr>
            <a:spLocks noGrp="1"/>
          </p:cNvSpPr>
          <p:nvPr>
            <p:ph type="sldNum" sz="quarter" idx="5"/>
          </p:nvPr>
        </p:nvSpPr>
        <p:spPr/>
        <p:txBody>
          <a:bodyPr/>
          <a:lstStyle/>
          <a:p>
            <a:fld id="{F3A8CA69-E461-4C14-8D61-FFB15030F213}" type="slidenum">
              <a:rPr lang="de-DE" smtClean="0"/>
              <a:t>6</a:t>
            </a:fld>
            <a:endParaRPr lang="de-DE"/>
          </a:p>
        </p:txBody>
      </p:sp>
    </p:spTree>
    <p:extLst>
      <p:ext uri="{BB962C8B-B14F-4D97-AF65-F5344CB8AC3E}">
        <p14:creationId xmlns:p14="http://schemas.microsoft.com/office/powerpoint/2010/main" val="2084032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Hier eine kurze Übersicht der Änderungen im Projektplan. Die Implementierung der Parameter und der für diese relevante Funktionen dauerte länger als zunächst erwartet. Dies kam vor allem durch den Umstieg von Mathematischen Formeln hin zu </a:t>
            </a:r>
            <a:r>
              <a:rPr lang="de-DE" err="1"/>
              <a:t>Curve</a:t>
            </a:r>
            <a:r>
              <a:rPr lang="de-DE"/>
              <a:t>-Sampling, da letzteres die Parametermanipulation übersichtlicher macht und somit erleichtert. Des weiteren hatte dies keine negativen Auswirkungen auf andere relevante Aktivitäten, da zu genüge Zeit für potenzielle Verzögerungen eingeplant war und andere Aktivitäten wie die Implementation von UI-Elementen keine auch Test-Parameter verwenden konnten. Anpassungen an den Parametern und der damit verbundenen Kalkulation werden in Zukunft unter </a:t>
            </a:r>
            <a:r>
              <a:rPr lang="de-DE" err="1"/>
              <a:t>Balancing</a:t>
            </a:r>
            <a:r>
              <a:rPr lang="de-DE"/>
              <a:t> festgehalten. Die Spielenden wurden zwar später als erwartet implementiert, aber die Implementation ging hier sehr schnell. </a:t>
            </a:r>
          </a:p>
          <a:p>
            <a:endParaRPr lang="de-DE"/>
          </a:p>
          <a:p>
            <a:r>
              <a:rPr lang="de-DE"/>
              <a:t>Für das nächste Audit wurden die Visuellen Effekte weiter unterteilt und die potenzielle Implementation einer Story-Line wurde hinzugefügt.</a:t>
            </a:r>
          </a:p>
        </p:txBody>
      </p:sp>
      <p:sp>
        <p:nvSpPr>
          <p:cNvPr id="4" name="Foliennummernplatzhalter 3"/>
          <p:cNvSpPr>
            <a:spLocks noGrp="1"/>
          </p:cNvSpPr>
          <p:nvPr>
            <p:ph type="sldNum" sz="quarter" idx="5"/>
          </p:nvPr>
        </p:nvSpPr>
        <p:spPr/>
        <p:txBody>
          <a:bodyPr/>
          <a:lstStyle/>
          <a:p>
            <a:fld id="{F3A8CA69-E461-4C14-8D61-FFB15030F213}" type="slidenum">
              <a:rPr lang="de-DE" smtClean="0"/>
              <a:t>7</a:t>
            </a:fld>
            <a:endParaRPr lang="de-DE"/>
          </a:p>
        </p:txBody>
      </p:sp>
    </p:spTree>
    <p:extLst>
      <p:ext uri="{BB962C8B-B14F-4D97-AF65-F5344CB8AC3E}">
        <p14:creationId xmlns:p14="http://schemas.microsoft.com/office/powerpoint/2010/main" val="2274567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Im nächsten Audit soll es nun der visuelle Aspekt des Projekts im Vordergrund stehen. So sollen die zuvor in Buttons abgebildeten Aktivitäten nun durch Gegenstände im Raum abgebildet werden, mit welchen der Spieler über die Spielfigur interagieren kann. Die Parameter, welche zuvor als einfach Zahlen abgebildet wurden, sollen als Balken/Leisten dargestellt werden. Wobei die Parameterwerte, welche sich zuvor lediglich auf den Text der Buttons widergespiegelt haben, nun für visuelle Veränderungen im Raum sorgen sollen, wie z.B. die im Mockup sichtbare Hervorhebung der Spiele-Konsole in Form eines Lichtes. Auch der Sprite des Spieler-Charakters soll optisch durch die Parameter beeinflusst werden und so den Zustand der Parameter widerspiegeln. </a:t>
            </a:r>
          </a:p>
        </p:txBody>
      </p:sp>
      <p:sp>
        <p:nvSpPr>
          <p:cNvPr id="4" name="Foliennummernplatzhalter 3"/>
          <p:cNvSpPr>
            <a:spLocks noGrp="1"/>
          </p:cNvSpPr>
          <p:nvPr>
            <p:ph type="sldNum" sz="quarter" idx="5"/>
          </p:nvPr>
        </p:nvSpPr>
        <p:spPr/>
        <p:txBody>
          <a:bodyPr/>
          <a:lstStyle/>
          <a:p>
            <a:fld id="{F3A8CA69-E461-4C14-8D61-FFB15030F213}" type="slidenum">
              <a:rPr lang="de-DE" smtClean="0"/>
              <a:t>8</a:t>
            </a:fld>
            <a:endParaRPr lang="de-DE"/>
          </a:p>
        </p:txBody>
      </p:sp>
    </p:spTree>
    <p:extLst>
      <p:ext uri="{BB962C8B-B14F-4D97-AF65-F5344CB8AC3E}">
        <p14:creationId xmlns:p14="http://schemas.microsoft.com/office/powerpoint/2010/main" val="3680219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0E79-0AF5-8501-1FC1-F68FF2BCD54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B11B43B-67D7-AE74-FDF9-FE62FA278D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91350CB-5F74-77BD-EB78-99715C38EE0E}"/>
              </a:ext>
            </a:extLst>
          </p:cNvPr>
          <p:cNvSpPr>
            <a:spLocks noGrp="1"/>
          </p:cNvSpPr>
          <p:nvPr>
            <p:ph type="body" idx="1"/>
          </p:nvPr>
        </p:nvSpPr>
        <p:spPr/>
        <p:txBody>
          <a:bodyPr/>
          <a:lstStyle/>
          <a:p>
            <a:r>
              <a:rPr lang="de-DE"/>
              <a:t>Abseits von den zuvor erwähnten Funktionalitäten, gäbe es Funktionen wie Tool-Tipps (siehe Mockup) oder auch die Inklusion einer Story-Line, welche Vorteilhaft für das Onboarding der Spieler wären, welche aber im Falle von Zeitmangel vernachlässigt werden würden.</a:t>
            </a:r>
          </a:p>
        </p:txBody>
      </p:sp>
      <p:sp>
        <p:nvSpPr>
          <p:cNvPr id="4" name="Foliennummernplatzhalter 3">
            <a:extLst>
              <a:ext uri="{FF2B5EF4-FFF2-40B4-BE49-F238E27FC236}">
                <a16:creationId xmlns:a16="http://schemas.microsoft.com/office/drawing/2014/main" id="{34E8F551-B8EB-F22A-07C8-994C5BAF44AE}"/>
              </a:ext>
            </a:extLst>
          </p:cNvPr>
          <p:cNvSpPr>
            <a:spLocks noGrp="1"/>
          </p:cNvSpPr>
          <p:nvPr>
            <p:ph type="sldNum" sz="quarter" idx="5"/>
          </p:nvPr>
        </p:nvSpPr>
        <p:spPr/>
        <p:txBody>
          <a:bodyPr/>
          <a:lstStyle/>
          <a:p>
            <a:fld id="{F3A8CA69-E461-4C14-8D61-FFB15030F213}" type="slidenum">
              <a:rPr lang="de-DE" smtClean="0"/>
              <a:t>9</a:t>
            </a:fld>
            <a:endParaRPr lang="de-DE"/>
          </a:p>
        </p:txBody>
      </p:sp>
    </p:spTree>
    <p:extLst>
      <p:ext uri="{BB962C8B-B14F-4D97-AF65-F5344CB8AC3E}">
        <p14:creationId xmlns:p14="http://schemas.microsoft.com/office/powerpoint/2010/main" val="4184013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Fragen?</a:t>
            </a:r>
          </a:p>
        </p:txBody>
      </p:sp>
      <p:sp>
        <p:nvSpPr>
          <p:cNvPr id="4" name="Foliennummernplatzhalter 3"/>
          <p:cNvSpPr>
            <a:spLocks noGrp="1"/>
          </p:cNvSpPr>
          <p:nvPr>
            <p:ph type="sldNum" sz="quarter" idx="5"/>
          </p:nvPr>
        </p:nvSpPr>
        <p:spPr/>
        <p:txBody>
          <a:bodyPr/>
          <a:lstStyle/>
          <a:p>
            <a:fld id="{F3A8CA69-E461-4C14-8D61-FFB15030F213}" type="slidenum">
              <a:rPr lang="de-DE" smtClean="0"/>
              <a:t>10</a:t>
            </a:fld>
            <a:endParaRPr lang="de-DE"/>
          </a:p>
        </p:txBody>
      </p:sp>
    </p:spTree>
    <p:extLst>
      <p:ext uri="{BB962C8B-B14F-4D97-AF65-F5344CB8AC3E}">
        <p14:creationId xmlns:p14="http://schemas.microsoft.com/office/powerpoint/2010/main" val="3432109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3CB55F-6902-C8FE-BBCB-E5FDD7459C4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C44A4EF-9691-49FD-E74F-65B9E3BE3F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2F769B1A-812B-4C80-2B09-16912C98DF7F}"/>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5" name="Fußzeilenplatzhalter 4">
            <a:extLst>
              <a:ext uri="{FF2B5EF4-FFF2-40B4-BE49-F238E27FC236}">
                <a16:creationId xmlns:a16="http://schemas.microsoft.com/office/drawing/2014/main" id="{CF8F73B1-9D5D-2D7F-B343-15D3F276153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8DAE392-C6D2-DD8B-25FE-B65B0953C44D}"/>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2150484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DD48AD-9019-3154-B50E-D997558F075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01D518B-4293-EC48-933A-623EB711C43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12403A5-21B0-9EC4-AE72-0E8EC2D93800}"/>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5" name="Fußzeilenplatzhalter 4">
            <a:extLst>
              <a:ext uri="{FF2B5EF4-FFF2-40B4-BE49-F238E27FC236}">
                <a16:creationId xmlns:a16="http://schemas.microsoft.com/office/drawing/2014/main" id="{733C3B84-A1B6-2BB2-EBE1-0F52C875D74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D94BC15-8616-30B0-29E2-F75AE02DABA1}"/>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4111839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A462EB-F7B8-F835-DA25-837444612F28}"/>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19D368C-79E4-FF32-754B-A231876F1F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D0CB3DBC-CFD4-94D1-D1CE-CEDB0367A4CB}"/>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5" name="Fußzeilenplatzhalter 4">
            <a:extLst>
              <a:ext uri="{FF2B5EF4-FFF2-40B4-BE49-F238E27FC236}">
                <a16:creationId xmlns:a16="http://schemas.microsoft.com/office/drawing/2014/main" id="{5C25F33C-BADB-5257-F49F-DF5D3F64277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214E5B4-0F07-644D-FE5C-D5FAA75D0BE4}"/>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1890243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198A16-239E-76C4-E575-7E1472387C7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B11639F1-CF3B-83D8-B032-4B39D165CD0C}"/>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483A028-4D51-4475-C593-DC9FB48067A9}"/>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DD8DB18D-48E2-92E5-1694-8D4D0BEC206E}"/>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6" name="Fußzeilenplatzhalter 5">
            <a:extLst>
              <a:ext uri="{FF2B5EF4-FFF2-40B4-BE49-F238E27FC236}">
                <a16:creationId xmlns:a16="http://schemas.microsoft.com/office/drawing/2014/main" id="{BE622859-6755-C816-97B8-DF9E1BAC3ED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776F6F8-5B05-2A7A-6978-7376002866E6}"/>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1915103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481DEE-ACCF-9984-030B-E6C66B874122}"/>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B84E86B8-4A1B-C64C-5059-33D25E255D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A32965D-D9D1-9720-7CD0-14D958FCA32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09BEB1E-B627-B91A-DDCA-4C818CB5E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C3A4F660-B0C3-411C-F99E-B536C44031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88CDE771-DBDB-3F2B-6AC3-55006405D48B}"/>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8" name="Fußzeilenplatzhalter 7">
            <a:extLst>
              <a:ext uri="{FF2B5EF4-FFF2-40B4-BE49-F238E27FC236}">
                <a16:creationId xmlns:a16="http://schemas.microsoft.com/office/drawing/2014/main" id="{153469F9-CF7C-1C06-014D-575CA4183284}"/>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55006A8B-CD84-C673-4380-A6A13259E15E}"/>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2526184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470FC0-5741-BCC8-4172-04E61F87AC6E}"/>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FFFDD7F0-A9D8-10F5-DCB3-81412679B5B0}"/>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4" name="Fußzeilenplatzhalter 3">
            <a:extLst>
              <a:ext uri="{FF2B5EF4-FFF2-40B4-BE49-F238E27FC236}">
                <a16:creationId xmlns:a16="http://schemas.microsoft.com/office/drawing/2014/main" id="{F33F9B7A-2920-556A-A1A7-2707EE6D10C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C741EFE-6CC0-3219-2194-495D4D7A94D6}"/>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1254993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979ADC3-8D38-2973-02DF-BFAE6681CEEA}"/>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3" name="Fußzeilenplatzhalter 2">
            <a:extLst>
              <a:ext uri="{FF2B5EF4-FFF2-40B4-BE49-F238E27FC236}">
                <a16:creationId xmlns:a16="http://schemas.microsoft.com/office/drawing/2014/main" id="{70330167-9B20-C443-7DC2-0D34C8FE987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ADC7C51-60EF-B5C8-7937-15A8F041500E}"/>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3466870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8F19AC-F265-8380-1D20-AAA3E1CA0EF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CC3A5D4B-B235-12D9-417A-2B96967E79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A0625FDE-F337-E876-2F0A-47989270D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06C9703-C89A-DB55-BB89-15AC8C672D64}"/>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6" name="Fußzeilenplatzhalter 5">
            <a:extLst>
              <a:ext uri="{FF2B5EF4-FFF2-40B4-BE49-F238E27FC236}">
                <a16:creationId xmlns:a16="http://schemas.microsoft.com/office/drawing/2014/main" id="{0B39512A-FA80-013C-EB89-0CC0A6E18B9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CB409BF-CA7D-2E77-C458-8E72931F5AF0}"/>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1062009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EA0203-6C11-52CB-E485-23BA91A9B46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5DE96F7-E344-6AAB-A501-CAA425C66F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31DE7230-0CAC-EE14-BE0D-0FDDA5E455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0828FAB-618F-CCB9-0FD3-3BB7DC48D30E}"/>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6" name="Fußzeilenplatzhalter 5">
            <a:extLst>
              <a:ext uri="{FF2B5EF4-FFF2-40B4-BE49-F238E27FC236}">
                <a16:creationId xmlns:a16="http://schemas.microsoft.com/office/drawing/2014/main" id="{C8358C6C-3D7F-80A4-E5AD-8D9D138B17E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E35379A-246A-FE0E-4C4A-61F597386A3B}"/>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4233922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EA6273-F458-6B36-0B6F-6DFC23D0FE45}"/>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8D83981F-4C20-D937-C481-060E6516D834}"/>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EA640B3-75E5-8EFD-FA86-FC84817ABC20}"/>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5" name="Fußzeilenplatzhalter 4">
            <a:extLst>
              <a:ext uri="{FF2B5EF4-FFF2-40B4-BE49-F238E27FC236}">
                <a16:creationId xmlns:a16="http://schemas.microsoft.com/office/drawing/2014/main" id="{8DBEFE1E-B677-43E3-8531-5E162110D23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9992AED-3A9B-3688-05C1-429239FF992A}"/>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3172147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95D339E-A3BC-CCC4-82A8-506AB2E2BED1}"/>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C1010E29-7C0B-D405-D4D1-BC90AB35694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9E331EE-79F5-C7D1-A75F-BC5170E25B88}"/>
              </a:ext>
            </a:extLst>
          </p:cNvPr>
          <p:cNvSpPr>
            <a:spLocks noGrp="1"/>
          </p:cNvSpPr>
          <p:nvPr>
            <p:ph type="dt" sz="half" idx="10"/>
          </p:nvPr>
        </p:nvSpPr>
        <p:spPr/>
        <p:txBody>
          <a:bodyPr/>
          <a:lstStyle/>
          <a:p>
            <a:fld id="{36A5669A-5CCD-40C6-8ACA-C74B13D89C31}" type="datetimeFigureOut">
              <a:rPr lang="de-DE" smtClean="0"/>
              <a:t>15.01.2026</a:t>
            </a:fld>
            <a:endParaRPr lang="de-DE"/>
          </a:p>
        </p:txBody>
      </p:sp>
      <p:sp>
        <p:nvSpPr>
          <p:cNvPr id="5" name="Fußzeilenplatzhalter 4">
            <a:extLst>
              <a:ext uri="{FF2B5EF4-FFF2-40B4-BE49-F238E27FC236}">
                <a16:creationId xmlns:a16="http://schemas.microsoft.com/office/drawing/2014/main" id="{0BE31345-E34D-4223-E51D-15270ED02FC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78E5049-97B8-6C54-D577-828F0A1FFFEB}"/>
              </a:ext>
            </a:extLst>
          </p:cNvPr>
          <p:cNvSpPr>
            <a:spLocks noGrp="1"/>
          </p:cNvSpPr>
          <p:nvPr>
            <p:ph type="sldNum" sz="quarter" idx="12"/>
          </p:nvPr>
        </p:nvSpPr>
        <p:spPr/>
        <p:txBody>
          <a:bodyPr/>
          <a:lstStyle/>
          <a:p>
            <a:fld id="{B84AC920-6782-4A2F-B1A4-E4C49E2711CB}" type="slidenum">
              <a:rPr lang="de-DE" smtClean="0"/>
              <a:t>‹Nr.›</a:t>
            </a:fld>
            <a:endParaRPr lang="de-DE"/>
          </a:p>
        </p:txBody>
      </p:sp>
    </p:spTree>
    <p:extLst>
      <p:ext uri="{BB962C8B-B14F-4D97-AF65-F5344CB8AC3E}">
        <p14:creationId xmlns:p14="http://schemas.microsoft.com/office/powerpoint/2010/main" val="1334263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3C7B95D-681D-1F11-B764-72B6C054C6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1DF74B8-ED57-1572-4827-249C6FA6DF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4FBE2FF-C5EC-C079-FEFE-B415D3E0C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A5669A-5CCD-40C6-8ACA-C74B13D89C31}" type="datetimeFigureOut">
              <a:rPr lang="de-DE" smtClean="0"/>
              <a:t>15.01.2026</a:t>
            </a:fld>
            <a:endParaRPr lang="de-DE"/>
          </a:p>
        </p:txBody>
      </p:sp>
      <p:sp>
        <p:nvSpPr>
          <p:cNvPr id="5" name="Fußzeilenplatzhalter 4">
            <a:extLst>
              <a:ext uri="{FF2B5EF4-FFF2-40B4-BE49-F238E27FC236}">
                <a16:creationId xmlns:a16="http://schemas.microsoft.com/office/drawing/2014/main" id="{D9C446A6-A319-FB5E-E223-4A4770EF87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3C21612F-6CA9-1E92-36BF-D4B2A8A189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4AC920-6782-4A2F-B1A4-E4C49E2711CB}" type="slidenum">
              <a:rPr lang="de-DE" smtClean="0"/>
              <a:t>‹Nr.›</a:t>
            </a:fld>
            <a:endParaRPr lang="de-DE"/>
          </a:p>
        </p:txBody>
      </p:sp>
    </p:spTree>
    <p:extLst>
      <p:ext uri="{BB962C8B-B14F-4D97-AF65-F5344CB8AC3E}">
        <p14:creationId xmlns:p14="http://schemas.microsoft.com/office/powerpoint/2010/main" val="91378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68E824-E130-4AF1-6092-D98D65EA6021}"/>
              </a:ext>
            </a:extLst>
          </p:cNvPr>
          <p:cNvSpPr>
            <a:spLocks noGrp="1"/>
          </p:cNvSpPr>
          <p:nvPr>
            <p:ph type="ctrTitle"/>
          </p:nvPr>
        </p:nvSpPr>
        <p:spPr/>
        <p:txBody>
          <a:bodyPr/>
          <a:lstStyle/>
          <a:p>
            <a:r>
              <a:rPr lang="de-DE"/>
              <a:t>EP Audit 3</a:t>
            </a:r>
          </a:p>
        </p:txBody>
      </p:sp>
      <p:sp>
        <p:nvSpPr>
          <p:cNvPr id="3" name="Untertitel 2">
            <a:extLst>
              <a:ext uri="{FF2B5EF4-FFF2-40B4-BE49-F238E27FC236}">
                <a16:creationId xmlns:a16="http://schemas.microsoft.com/office/drawing/2014/main" id="{50297642-C80E-5239-B8F5-AF1F631A8E83}"/>
              </a:ext>
            </a:extLst>
          </p:cNvPr>
          <p:cNvSpPr>
            <a:spLocks noGrp="1"/>
          </p:cNvSpPr>
          <p:nvPr>
            <p:ph type="subTitle" idx="1"/>
          </p:nvPr>
        </p:nvSpPr>
        <p:spPr/>
        <p:txBody>
          <a:bodyPr/>
          <a:lstStyle/>
          <a:p>
            <a:r>
              <a:rPr lang="de-DE"/>
              <a:t>Ben </a:t>
            </a:r>
            <a:r>
              <a:rPr lang="de-DE" err="1"/>
              <a:t>Pritzkau</a:t>
            </a:r>
            <a:r>
              <a:rPr lang="de-DE"/>
              <a:t> und Robin Schlegel</a:t>
            </a:r>
          </a:p>
        </p:txBody>
      </p:sp>
    </p:spTree>
    <p:extLst>
      <p:ext uri="{BB962C8B-B14F-4D97-AF65-F5344CB8AC3E}">
        <p14:creationId xmlns:p14="http://schemas.microsoft.com/office/powerpoint/2010/main" val="1673769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BE47A1-0061-EE0F-508C-769F06053CFE}"/>
              </a:ext>
            </a:extLst>
          </p:cNvPr>
          <p:cNvSpPr>
            <a:spLocks noGrp="1"/>
          </p:cNvSpPr>
          <p:nvPr>
            <p:ph type="title"/>
          </p:nvPr>
        </p:nvSpPr>
        <p:spPr>
          <a:xfrm>
            <a:off x="839788" y="457200"/>
            <a:ext cx="3932237" cy="1433945"/>
          </a:xfrm>
        </p:spPr>
        <p:txBody>
          <a:bodyPr/>
          <a:lstStyle/>
          <a:p>
            <a:r>
              <a:rPr lang="de-DE"/>
              <a:t>Wiederholung</a:t>
            </a:r>
          </a:p>
        </p:txBody>
      </p:sp>
      <p:pic>
        <p:nvPicPr>
          <p:cNvPr id="7" name="Bildplatzhalter 6" descr="Ein Bild, das Text, Screenshot, Diagramm enthält.&#10;&#10;KI-generierte Inhalte können fehlerhaft sein.">
            <a:extLst>
              <a:ext uri="{FF2B5EF4-FFF2-40B4-BE49-F238E27FC236}">
                <a16:creationId xmlns:a16="http://schemas.microsoft.com/office/drawing/2014/main" id="{2213C73C-61B7-B76C-374D-AD723520F66D}"/>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1269" t="2509" r="27493" b="2290"/>
          <a:stretch>
            <a:fillRect/>
          </a:stretch>
        </p:blipFill>
        <p:spPr>
          <a:xfrm>
            <a:off x="5183188" y="987425"/>
            <a:ext cx="6172200" cy="48736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platzhalter 4">
            <a:extLst>
              <a:ext uri="{FF2B5EF4-FFF2-40B4-BE49-F238E27FC236}">
                <a16:creationId xmlns:a16="http://schemas.microsoft.com/office/drawing/2014/main" id="{5997156A-22E9-8B92-2C04-387FF1AB8D1F}"/>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de-DE" sz="1800"/>
              <a:t>Ziel: Erstellung eines Spiels, welches Prokrastination simuliert und damit verbunden Probleme und Lösungsansätze nahe bringt.</a:t>
            </a:r>
          </a:p>
          <a:p>
            <a:pPr marL="285750" indent="-285750">
              <a:buFont typeface="Arial" panose="020B0604020202020204" pitchFamily="34" charset="0"/>
              <a:buChar char="•"/>
            </a:pPr>
            <a:r>
              <a:rPr lang="de-DE" sz="1800"/>
              <a:t>Es sollen also durch das Spiel Rückschlüsse auf Sachverhalte in der Realität möglich sein, welche so zu einem positiven Ergebnis zu führen.</a:t>
            </a:r>
          </a:p>
          <a:p>
            <a:pPr marL="285750" indent="-285750">
              <a:buFont typeface="Arial" panose="020B0604020202020204" pitchFamily="34" charset="0"/>
              <a:buChar char="•"/>
            </a:pPr>
            <a:r>
              <a:rPr lang="de-DE" sz="1800"/>
              <a:t>Was das Projekt nicht ist:</a:t>
            </a:r>
            <a:br>
              <a:rPr lang="de-DE" sz="1800"/>
            </a:br>
            <a:r>
              <a:rPr lang="de-DE" sz="1800"/>
              <a:t>Ein Prokrastinations-Helfer, welcher den Nutzer über den Alltag coacht. </a:t>
            </a:r>
          </a:p>
        </p:txBody>
      </p:sp>
    </p:spTree>
    <p:extLst>
      <p:ext uri="{BB962C8B-B14F-4D97-AF65-F5344CB8AC3E}">
        <p14:creationId xmlns:p14="http://schemas.microsoft.com/office/powerpoint/2010/main" val="1044904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F8BE7B-5694-596D-DC12-946C312EAECE}"/>
              </a:ext>
            </a:extLst>
          </p:cNvPr>
          <p:cNvSpPr>
            <a:spLocks noGrp="1"/>
          </p:cNvSpPr>
          <p:nvPr>
            <p:ph type="title"/>
          </p:nvPr>
        </p:nvSpPr>
        <p:spPr/>
        <p:txBody>
          <a:bodyPr/>
          <a:lstStyle/>
          <a:p>
            <a:r>
              <a:rPr lang="de-DE"/>
              <a:t>Vorstellung: Rapid Prototype</a:t>
            </a:r>
          </a:p>
        </p:txBody>
      </p:sp>
      <p:sp>
        <p:nvSpPr>
          <p:cNvPr id="3" name="Inhaltsplatzhalter 2">
            <a:extLst>
              <a:ext uri="{FF2B5EF4-FFF2-40B4-BE49-F238E27FC236}">
                <a16:creationId xmlns:a16="http://schemas.microsoft.com/office/drawing/2014/main" id="{28711AC3-22D8-69BD-568E-B42F912791AB}"/>
              </a:ext>
            </a:extLst>
          </p:cNvPr>
          <p:cNvSpPr>
            <a:spLocks noGrp="1"/>
          </p:cNvSpPr>
          <p:nvPr>
            <p:ph idx="1"/>
          </p:nvPr>
        </p:nvSpPr>
        <p:spPr/>
        <p:txBody>
          <a:bodyPr/>
          <a:lstStyle/>
          <a:p>
            <a:r>
              <a:rPr lang="de-DE"/>
              <a:t>Vorstellung vor Ort</a:t>
            </a:r>
          </a:p>
          <a:p>
            <a:r>
              <a:rPr lang="de-DE"/>
              <a:t>Oder: Video im Audit 3 Ordner</a:t>
            </a:r>
          </a:p>
        </p:txBody>
      </p:sp>
    </p:spTree>
    <p:extLst>
      <p:ext uri="{BB962C8B-B14F-4D97-AF65-F5344CB8AC3E}">
        <p14:creationId xmlns:p14="http://schemas.microsoft.com/office/powerpoint/2010/main" val="2040529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1D9EA1-70D9-25D8-C91F-003B454C1B2E}"/>
              </a:ext>
            </a:extLst>
          </p:cNvPr>
          <p:cNvSpPr>
            <a:spLocks noGrp="1"/>
          </p:cNvSpPr>
          <p:nvPr>
            <p:ph type="title"/>
          </p:nvPr>
        </p:nvSpPr>
        <p:spPr/>
        <p:txBody>
          <a:bodyPr/>
          <a:lstStyle/>
          <a:p>
            <a:r>
              <a:rPr lang="de-DE"/>
              <a:t>Übersicht durchgeführter PoCs</a:t>
            </a:r>
          </a:p>
        </p:txBody>
      </p:sp>
      <p:sp>
        <p:nvSpPr>
          <p:cNvPr id="3" name="Inhaltsplatzhalter 2">
            <a:extLst>
              <a:ext uri="{FF2B5EF4-FFF2-40B4-BE49-F238E27FC236}">
                <a16:creationId xmlns:a16="http://schemas.microsoft.com/office/drawing/2014/main" id="{6F2D548B-BD36-045C-45DB-AAC598943EC6}"/>
              </a:ext>
            </a:extLst>
          </p:cNvPr>
          <p:cNvSpPr>
            <a:spLocks noGrp="1"/>
          </p:cNvSpPr>
          <p:nvPr>
            <p:ph idx="1"/>
          </p:nvPr>
        </p:nvSpPr>
        <p:spPr/>
        <p:txBody>
          <a:bodyPr>
            <a:normAutofit fontScale="70000" lnSpcReduction="20000"/>
          </a:bodyPr>
          <a:lstStyle/>
          <a:p>
            <a:r>
              <a:rPr lang="de-DE"/>
              <a:t>Der Rapid Prototype enthält folgende Durchgeführte PoCs</a:t>
            </a:r>
          </a:p>
          <a:p>
            <a:r>
              <a:rPr lang="de-DE"/>
              <a:t>PoCs 301-310 (Parameter PoCs)</a:t>
            </a:r>
          </a:p>
          <a:p>
            <a:pPr lvl="1"/>
            <a:r>
              <a:rPr lang="de-DE"/>
              <a:t>301 – Parameter Manipulation (Parameter wird durch Buttons verändert)</a:t>
            </a:r>
          </a:p>
          <a:p>
            <a:pPr lvl="1"/>
            <a:r>
              <a:rPr lang="de-DE"/>
              <a:t>302 – Parameter Zugriff (Zugriff auf Parameter von Funktionen möglich)	</a:t>
            </a:r>
          </a:p>
          <a:p>
            <a:pPr lvl="2"/>
            <a:r>
              <a:rPr lang="de-DE"/>
              <a:t>306 für Zeitzugriff im UI</a:t>
            </a:r>
          </a:p>
          <a:p>
            <a:pPr lvl="1"/>
            <a:r>
              <a:rPr lang="de-DE"/>
              <a:t>303 – Konstante Addition (Parameter werden regelmäßig um ihr Wachstum addiert)</a:t>
            </a:r>
          </a:p>
          <a:p>
            <a:pPr lvl="1"/>
            <a:r>
              <a:rPr lang="de-DE"/>
              <a:t>304 – Parameter Grenzen ( Parameter können nur zwischen bestimmten Werten liegen)</a:t>
            </a:r>
          </a:p>
          <a:p>
            <a:pPr lvl="1"/>
            <a:r>
              <a:rPr lang="de-DE"/>
              <a:t>305 – Berechnung des Produktivitätsparameters</a:t>
            </a:r>
          </a:p>
          <a:p>
            <a:pPr lvl="1"/>
            <a:r>
              <a:rPr lang="de-DE"/>
              <a:t>307 – Inkrementierung des Zeitparameters</a:t>
            </a:r>
          </a:p>
          <a:p>
            <a:pPr lvl="1"/>
            <a:r>
              <a:rPr lang="de-DE"/>
              <a:t>308 – Deadline-Meilenstein (Die Annäherung an die Deadline wird angezeigt)</a:t>
            </a:r>
          </a:p>
          <a:p>
            <a:pPr lvl="1"/>
            <a:r>
              <a:rPr lang="de-DE"/>
              <a:t>309 – Deadline (Bei erreichen der Deadline wird die Endsequenz angezeigt)</a:t>
            </a:r>
          </a:p>
          <a:p>
            <a:pPr lvl="1"/>
            <a:r>
              <a:rPr lang="de-DE"/>
              <a:t>310 – Endsequenz (Je nach Arbeitsfortschritt wird die korrekte Endsequenz angezeigt)</a:t>
            </a:r>
          </a:p>
          <a:p>
            <a:r>
              <a:rPr lang="de-DE"/>
              <a:t>PoCs 401, 402 und 404 (UI PoCs)</a:t>
            </a:r>
          </a:p>
          <a:p>
            <a:pPr lvl="1"/>
            <a:r>
              <a:rPr lang="de-DE"/>
              <a:t>401 – Parameter UI (Korrekte Werte, Werte gleichen im UI der Konsole)</a:t>
            </a:r>
          </a:p>
          <a:p>
            <a:pPr lvl="1"/>
            <a:r>
              <a:rPr lang="de-DE"/>
              <a:t>402 – UI-Lesbarkeit (Das UI bietet vermittelt Informationen deutlich)</a:t>
            </a:r>
          </a:p>
          <a:p>
            <a:pPr lvl="1"/>
            <a:r>
              <a:rPr lang="de-DE"/>
              <a:t>404 – Text Transformation (Text verändert sich z.B. Farbe oder Position)</a:t>
            </a:r>
          </a:p>
        </p:txBody>
      </p:sp>
    </p:spTree>
    <p:extLst>
      <p:ext uri="{BB962C8B-B14F-4D97-AF65-F5344CB8AC3E}">
        <p14:creationId xmlns:p14="http://schemas.microsoft.com/office/powerpoint/2010/main" val="35628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24D2D1-60FE-0AF9-BB2C-3FD7BF276D13}"/>
              </a:ext>
            </a:extLst>
          </p:cNvPr>
          <p:cNvSpPr>
            <a:spLocks noGrp="1"/>
          </p:cNvSpPr>
          <p:nvPr>
            <p:ph type="title"/>
          </p:nvPr>
        </p:nvSpPr>
        <p:spPr>
          <a:xfrm>
            <a:off x="96982" y="88034"/>
            <a:ext cx="10515600" cy="1325563"/>
          </a:xfrm>
        </p:spPr>
        <p:txBody>
          <a:bodyPr/>
          <a:lstStyle/>
          <a:p>
            <a:r>
              <a:rPr lang="de-DE"/>
              <a:t>Code Inspektion</a:t>
            </a:r>
          </a:p>
        </p:txBody>
      </p:sp>
      <p:pic>
        <p:nvPicPr>
          <p:cNvPr id="5" name="Inhaltsplatzhalter 4" descr="Ein Bild, das Text, Screenshot, Schrift, Software enthält.&#10;&#10;KI-generierte Inhalte können fehlerhaft sein.">
            <a:extLst>
              <a:ext uri="{FF2B5EF4-FFF2-40B4-BE49-F238E27FC236}">
                <a16:creationId xmlns:a16="http://schemas.microsoft.com/office/drawing/2014/main" id="{14122FFB-4240-C5B2-3F4B-760F07BCE119}"/>
              </a:ext>
            </a:extLst>
          </p:cNvPr>
          <p:cNvPicPr>
            <a:picLocks noGrp="1" noChangeAspect="1"/>
          </p:cNvPicPr>
          <p:nvPr>
            <p:ph idx="1"/>
          </p:nvPr>
        </p:nvPicPr>
        <p:blipFill>
          <a:blip r:embed="rId3"/>
          <a:stretch>
            <a:fillRect/>
          </a:stretch>
        </p:blipFill>
        <p:spPr>
          <a:xfrm>
            <a:off x="-15063" y="1413597"/>
            <a:ext cx="9617319" cy="3233005"/>
          </a:xfrm>
          <a:prstGeom prst="rect">
            <a:avLst/>
          </a:prstGeom>
        </p:spPr>
      </p:pic>
      <p:pic>
        <p:nvPicPr>
          <p:cNvPr id="11" name="Grafik 10">
            <a:extLst>
              <a:ext uri="{FF2B5EF4-FFF2-40B4-BE49-F238E27FC236}">
                <a16:creationId xmlns:a16="http://schemas.microsoft.com/office/drawing/2014/main" id="{7BC66A2E-B28E-A7D7-0B5B-699B62B406B0}"/>
              </a:ext>
            </a:extLst>
          </p:cNvPr>
          <p:cNvPicPr>
            <a:picLocks noChangeAspect="1"/>
          </p:cNvPicPr>
          <p:nvPr/>
        </p:nvPicPr>
        <p:blipFill>
          <a:blip r:embed="rId4"/>
          <a:stretch>
            <a:fillRect/>
          </a:stretch>
        </p:blipFill>
        <p:spPr>
          <a:xfrm>
            <a:off x="-20395" y="4931053"/>
            <a:ext cx="9499031" cy="942209"/>
          </a:xfrm>
          <a:prstGeom prst="rect">
            <a:avLst/>
          </a:prstGeom>
        </p:spPr>
      </p:pic>
      <p:pic>
        <p:nvPicPr>
          <p:cNvPr id="3" name="Picture 2">
            <a:extLst>
              <a:ext uri="{FF2B5EF4-FFF2-40B4-BE49-F238E27FC236}">
                <a16:creationId xmlns:a16="http://schemas.microsoft.com/office/drawing/2014/main" id="{E2756E6F-6393-B247-03DC-C08A70409DD1}"/>
              </a:ext>
            </a:extLst>
          </p:cNvPr>
          <p:cNvPicPr>
            <a:picLocks noChangeAspect="1"/>
          </p:cNvPicPr>
          <p:nvPr/>
        </p:nvPicPr>
        <p:blipFill>
          <a:blip r:embed="rId5"/>
          <a:stretch>
            <a:fillRect/>
          </a:stretch>
        </p:blipFill>
        <p:spPr>
          <a:xfrm>
            <a:off x="8709879" y="1410432"/>
            <a:ext cx="3482487" cy="2220059"/>
          </a:xfrm>
          <a:prstGeom prst="rect">
            <a:avLst/>
          </a:prstGeom>
        </p:spPr>
      </p:pic>
      <p:pic>
        <p:nvPicPr>
          <p:cNvPr id="4" name="Picture 3">
            <a:extLst>
              <a:ext uri="{FF2B5EF4-FFF2-40B4-BE49-F238E27FC236}">
                <a16:creationId xmlns:a16="http://schemas.microsoft.com/office/drawing/2014/main" id="{1EE62586-2652-BBC4-A6D2-4396C3DB9EDC}"/>
              </a:ext>
            </a:extLst>
          </p:cNvPr>
          <p:cNvPicPr>
            <a:picLocks noChangeAspect="1"/>
          </p:cNvPicPr>
          <p:nvPr/>
        </p:nvPicPr>
        <p:blipFill>
          <a:blip r:embed="rId6"/>
          <a:stretch>
            <a:fillRect/>
          </a:stretch>
        </p:blipFill>
        <p:spPr>
          <a:xfrm>
            <a:off x="8705117" y="3639650"/>
            <a:ext cx="3492012" cy="2216395"/>
          </a:xfrm>
          <a:prstGeom prst="rect">
            <a:avLst/>
          </a:prstGeom>
        </p:spPr>
      </p:pic>
    </p:spTree>
    <p:extLst>
      <p:ext uri="{BB962C8B-B14F-4D97-AF65-F5344CB8AC3E}">
        <p14:creationId xmlns:p14="http://schemas.microsoft.com/office/powerpoint/2010/main" val="875867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78DA4B-CBBE-A212-2BFE-5E7BB3536CBB}"/>
              </a:ext>
            </a:extLst>
          </p:cNvPr>
          <p:cNvSpPr>
            <a:spLocks noGrp="1"/>
          </p:cNvSpPr>
          <p:nvPr>
            <p:ph type="title"/>
          </p:nvPr>
        </p:nvSpPr>
        <p:spPr/>
        <p:txBody>
          <a:bodyPr/>
          <a:lstStyle/>
          <a:p>
            <a:r>
              <a:rPr lang="de-DE"/>
              <a:t>Interaktionsmodell</a:t>
            </a:r>
          </a:p>
        </p:txBody>
      </p:sp>
      <p:pic>
        <p:nvPicPr>
          <p:cNvPr id="26" name="Grafik 25" descr="Ein Bild, das Text, Entwurf, Diagramm, Zeichnung enthält.&#10;&#10;KI-generierte Inhalte können fehlerhaft sein.">
            <a:extLst>
              <a:ext uri="{FF2B5EF4-FFF2-40B4-BE49-F238E27FC236}">
                <a16:creationId xmlns:a16="http://schemas.microsoft.com/office/drawing/2014/main" id="{7123ED02-1B4A-6C5F-B5DF-1DC33BA29083}"/>
              </a:ext>
            </a:extLst>
          </p:cNvPr>
          <p:cNvPicPr>
            <a:picLocks noChangeAspect="1"/>
          </p:cNvPicPr>
          <p:nvPr/>
        </p:nvPicPr>
        <p:blipFill>
          <a:blip r:embed="rId3"/>
          <a:stretch>
            <a:fillRect/>
          </a:stretch>
        </p:blipFill>
        <p:spPr>
          <a:xfrm>
            <a:off x="1065190" y="1454727"/>
            <a:ext cx="7925711" cy="5403273"/>
          </a:xfrm>
          <a:prstGeom prst="rect">
            <a:avLst/>
          </a:prstGeom>
        </p:spPr>
      </p:pic>
    </p:spTree>
    <p:extLst>
      <p:ext uri="{BB962C8B-B14F-4D97-AF65-F5344CB8AC3E}">
        <p14:creationId xmlns:p14="http://schemas.microsoft.com/office/powerpoint/2010/main" val="1715936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3F9FEB-CC5C-233C-5383-1F8991003695}"/>
              </a:ext>
            </a:extLst>
          </p:cNvPr>
          <p:cNvSpPr>
            <a:spLocks noGrp="1"/>
          </p:cNvSpPr>
          <p:nvPr>
            <p:ph type="title"/>
          </p:nvPr>
        </p:nvSpPr>
        <p:spPr/>
        <p:txBody>
          <a:bodyPr/>
          <a:lstStyle/>
          <a:p>
            <a:r>
              <a:rPr lang="de-DE"/>
              <a:t>Projektplan – Änderungs-Übersicht</a:t>
            </a:r>
            <a:br>
              <a:rPr lang="de-DE"/>
            </a:br>
            <a:endParaRPr lang="de-DE"/>
          </a:p>
        </p:txBody>
      </p:sp>
      <p:sp>
        <p:nvSpPr>
          <p:cNvPr id="3" name="Inhaltsplatzhalter 2">
            <a:extLst>
              <a:ext uri="{FF2B5EF4-FFF2-40B4-BE49-F238E27FC236}">
                <a16:creationId xmlns:a16="http://schemas.microsoft.com/office/drawing/2014/main" id="{54B35387-3803-8070-29BA-C069E94699DC}"/>
              </a:ext>
            </a:extLst>
          </p:cNvPr>
          <p:cNvSpPr>
            <a:spLocks noGrp="1"/>
          </p:cNvSpPr>
          <p:nvPr>
            <p:ph idx="1"/>
          </p:nvPr>
        </p:nvSpPr>
        <p:spPr/>
        <p:txBody>
          <a:bodyPr>
            <a:normAutofit/>
          </a:bodyPr>
          <a:lstStyle/>
          <a:p>
            <a:r>
              <a:rPr lang="de-DE"/>
              <a:t>Implementation der Parameter dauerte länger als erwartet</a:t>
            </a:r>
          </a:p>
          <a:p>
            <a:pPr lvl="1"/>
            <a:r>
              <a:rPr lang="de-DE"/>
              <a:t>Umstieg von Mathematischen Formeln zu </a:t>
            </a:r>
            <a:r>
              <a:rPr lang="de-DE" err="1"/>
              <a:t>Curve</a:t>
            </a:r>
            <a:r>
              <a:rPr lang="de-DE"/>
              <a:t>-Sampling</a:t>
            </a:r>
          </a:p>
          <a:p>
            <a:pPr lvl="1"/>
            <a:r>
              <a:rPr lang="de-DE"/>
              <a:t>Keine negativen Auswirkungen auf andere relevante Aktivitäten</a:t>
            </a:r>
          </a:p>
          <a:p>
            <a:pPr lvl="1"/>
            <a:r>
              <a:rPr lang="de-DE"/>
              <a:t>Weitere Änderungen werden nun unter „</a:t>
            </a:r>
            <a:r>
              <a:rPr lang="de-DE" err="1"/>
              <a:t>Balancing</a:t>
            </a:r>
            <a:r>
              <a:rPr lang="de-DE"/>
              <a:t>“ dokumentiert</a:t>
            </a:r>
          </a:p>
          <a:p>
            <a:r>
              <a:rPr lang="de-DE"/>
              <a:t>Spielenden wurden verspätet aber schnell implementiert</a:t>
            </a:r>
          </a:p>
          <a:p>
            <a:r>
              <a:rPr lang="de-DE"/>
              <a:t>Visuelle Effekte weiter unterteilt</a:t>
            </a:r>
          </a:p>
          <a:p>
            <a:pPr lvl="1"/>
            <a:r>
              <a:rPr lang="de-DE"/>
              <a:t>Lichteffekte</a:t>
            </a:r>
          </a:p>
          <a:p>
            <a:pPr lvl="1"/>
            <a:r>
              <a:rPr lang="de-DE"/>
              <a:t>Charakter-Effekte</a:t>
            </a:r>
          </a:p>
          <a:p>
            <a:r>
              <a:rPr lang="de-DE"/>
              <a:t>Story-Line als Aktivität hinzugefügt </a:t>
            </a:r>
          </a:p>
        </p:txBody>
      </p:sp>
    </p:spTree>
    <p:extLst>
      <p:ext uri="{BB962C8B-B14F-4D97-AF65-F5344CB8AC3E}">
        <p14:creationId xmlns:p14="http://schemas.microsoft.com/office/powerpoint/2010/main" val="393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4" descr="Ein Bild, das Text, Screenshot, Diagramm enthält.&#10;&#10;KI-generierte Inhalte können fehlerhaft sein.">
            <a:extLst>
              <a:ext uri="{FF2B5EF4-FFF2-40B4-BE49-F238E27FC236}">
                <a16:creationId xmlns:a16="http://schemas.microsoft.com/office/drawing/2014/main" id="{39E3773F-AAB8-4254-0515-E0BED98C70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12191999" cy="6858000"/>
          </a:xfrm>
        </p:spPr>
      </p:pic>
      <p:sp>
        <p:nvSpPr>
          <p:cNvPr id="2" name="Titel 1">
            <a:extLst>
              <a:ext uri="{FF2B5EF4-FFF2-40B4-BE49-F238E27FC236}">
                <a16:creationId xmlns:a16="http://schemas.microsoft.com/office/drawing/2014/main" id="{1490B2B7-D2B9-B86E-EE3F-07ADF47942B1}"/>
              </a:ext>
            </a:extLst>
          </p:cNvPr>
          <p:cNvSpPr>
            <a:spLocks noGrp="1"/>
          </p:cNvSpPr>
          <p:nvPr>
            <p:ph type="title"/>
          </p:nvPr>
        </p:nvSpPr>
        <p:spPr>
          <a:xfrm>
            <a:off x="1949450" y="146050"/>
            <a:ext cx="2552700" cy="1943100"/>
          </a:xfrm>
        </p:spPr>
        <p:txBody>
          <a:bodyPr/>
          <a:lstStyle/>
          <a:p>
            <a:r>
              <a:rPr lang="de-DE">
                <a:highlight>
                  <a:srgbClr val="C0C0C0"/>
                </a:highlight>
              </a:rPr>
              <a:t>Ausblick</a:t>
            </a:r>
          </a:p>
        </p:txBody>
      </p:sp>
      <p:sp>
        <p:nvSpPr>
          <p:cNvPr id="6" name="Rechteck 5">
            <a:extLst>
              <a:ext uri="{FF2B5EF4-FFF2-40B4-BE49-F238E27FC236}">
                <a16:creationId xmlns:a16="http://schemas.microsoft.com/office/drawing/2014/main" id="{61F18F61-923A-1B43-9278-4718DE3F255B}"/>
              </a:ext>
            </a:extLst>
          </p:cNvPr>
          <p:cNvSpPr/>
          <p:nvPr/>
        </p:nvSpPr>
        <p:spPr>
          <a:xfrm>
            <a:off x="1930400" y="127000"/>
            <a:ext cx="2590800" cy="1981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4800" u="sng">
                <a:solidFill>
                  <a:srgbClr val="FFFF00"/>
                </a:solidFill>
              </a:rPr>
              <a:t>Ausblick</a:t>
            </a:r>
          </a:p>
        </p:txBody>
      </p:sp>
    </p:spTree>
    <p:extLst>
      <p:ext uri="{BB962C8B-B14F-4D97-AF65-F5344CB8AC3E}">
        <p14:creationId xmlns:p14="http://schemas.microsoft.com/office/powerpoint/2010/main" val="37469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3111-4B72-DA6F-6B12-69F8612FFF3E}"/>
            </a:ext>
          </a:extLst>
        </p:cNvPr>
        <p:cNvGrpSpPr/>
        <p:nvPr/>
      </p:nvGrpSpPr>
      <p:grpSpPr>
        <a:xfrm>
          <a:off x="0" y="0"/>
          <a:ext cx="0" cy="0"/>
          <a:chOff x="0" y="0"/>
          <a:chExt cx="0" cy="0"/>
        </a:xfrm>
      </p:grpSpPr>
      <p:pic>
        <p:nvPicPr>
          <p:cNvPr id="5" name="Inhaltsplatzhalter 4" descr="Ein Bild, das Text, Screenshot, Diagramm enthält.&#10;&#10;KI-generierte Inhalte können fehlerhaft sein.">
            <a:extLst>
              <a:ext uri="{FF2B5EF4-FFF2-40B4-BE49-F238E27FC236}">
                <a16:creationId xmlns:a16="http://schemas.microsoft.com/office/drawing/2014/main" id="{9C3E842E-88E0-F130-9ED6-4457233F6E9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12191999" cy="6858000"/>
          </a:xfrm>
        </p:spPr>
      </p:pic>
      <p:sp>
        <p:nvSpPr>
          <p:cNvPr id="2" name="Titel 1">
            <a:extLst>
              <a:ext uri="{FF2B5EF4-FFF2-40B4-BE49-F238E27FC236}">
                <a16:creationId xmlns:a16="http://schemas.microsoft.com/office/drawing/2014/main" id="{D08694C1-B177-F4FC-A416-EC97DFA5C33B}"/>
              </a:ext>
            </a:extLst>
          </p:cNvPr>
          <p:cNvSpPr>
            <a:spLocks noGrp="1"/>
          </p:cNvSpPr>
          <p:nvPr>
            <p:ph type="title"/>
          </p:nvPr>
        </p:nvSpPr>
        <p:spPr>
          <a:xfrm>
            <a:off x="1949450" y="146050"/>
            <a:ext cx="2552700" cy="1943100"/>
          </a:xfrm>
        </p:spPr>
        <p:txBody>
          <a:bodyPr/>
          <a:lstStyle/>
          <a:p>
            <a:r>
              <a:rPr lang="de-DE">
                <a:highlight>
                  <a:srgbClr val="C0C0C0"/>
                </a:highlight>
              </a:rPr>
              <a:t>Ausblick</a:t>
            </a:r>
          </a:p>
        </p:txBody>
      </p:sp>
      <p:sp>
        <p:nvSpPr>
          <p:cNvPr id="6" name="Rechteck 5">
            <a:extLst>
              <a:ext uri="{FF2B5EF4-FFF2-40B4-BE49-F238E27FC236}">
                <a16:creationId xmlns:a16="http://schemas.microsoft.com/office/drawing/2014/main" id="{6E4259BD-B930-5BA0-1037-4253A07646C2}"/>
              </a:ext>
            </a:extLst>
          </p:cNvPr>
          <p:cNvSpPr/>
          <p:nvPr/>
        </p:nvSpPr>
        <p:spPr>
          <a:xfrm>
            <a:off x="1930400" y="127000"/>
            <a:ext cx="2590800" cy="1981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4800" u="sng" err="1">
                <a:solidFill>
                  <a:srgbClr val="FFFF00"/>
                </a:solidFill>
              </a:rPr>
              <a:t>AusblickNice-to-haves</a:t>
            </a:r>
            <a:endParaRPr lang="de-DE" sz="4800" u="sng">
              <a:solidFill>
                <a:srgbClr val="FFFF00"/>
              </a:solidFill>
            </a:endParaRPr>
          </a:p>
        </p:txBody>
      </p:sp>
      <p:pic>
        <p:nvPicPr>
          <p:cNvPr id="4" name="Grafik 3" descr="Ein Bild, das Text, Screenshot, Diagramm enthält.&#10;&#10;KI-generierte Inhalte können fehlerhaft sein.">
            <a:extLst>
              <a:ext uri="{FF2B5EF4-FFF2-40B4-BE49-F238E27FC236}">
                <a16:creationId xmlns:a16="http://schemas.microsoft.com/office/drawing/2014/main" id="{A4765050-C8BE-8BDB-0D3F-DAEB35AC3D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7844" y="1117600"/>
            <a:ext cx="6064154" cy="5740400"/>
          </a:xfrm>
          <a:prstGeom prst="rect">
            <a:avLst/>
          </a:prstGeom>
        </p:spPr>
      </p:pic>
    </p:spTree>
    <p:extLst>
      <p:ext uri="{BB962C8B-B14F-4D97-AF65-F5344CB8AC3E}">
        <p14:creationId xmlns:p14="http://schemas.microsoft.com/office/powerpoint/2010/main" val="2722545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2BD4E7E-388D-2D0F-2E7B-3EC0D03CE76E}"/>
              </a:ext>
            </a:extLst>
          </p:cNvPr>
          <p:cNvSpPr>
            <a:spLocks noGrp="1"/>
          </p:cNvSpPr>
          <p:nvPr>
            <p:ph type="ctrTitle"/>
          </p:nvPr>
        </p:nvSpPr>
        <p:spPr/>
        <p:txBody>
          <a:bodyPr/>
          <a:lstStyle/>
          <a:p>
            <a:r>
              <a:rPr lang="de-DE"/>
              <a:t>Fragen?</a:t>
            </a:r>
          </a:p>
        </p:txBody>
      </p:sp>
      <p:sp>
        <p:nvSpPr>
          <p:cNvPr id="6" name="Untertitel 5">
            <a:extLst>
              <a:ext uri="{FF2B5EF4-FFF2-40B4-BE49-F238E27FC236}">
                <a16:creationId xmlns:a16="http://schemas.microsoft.com/office/drawing/2014/main" id="{EDB75C25-8A7C-26BF-FD15-976FE0E2014F}"/>
              </a:ext>
            </a:extLst>
          </p:cNvPr>
          <p:cNvSpPr>
            <a:spLocks noGrp="1"/>
          </p:cNvSpPr>
          <p:nvPr>
            <p:ph type="subTitle" idx="1"/>
          </p:nvPr>
        </p:nvSpPr>
        <p:spPr/>
        <p:txBody>
          <a:bodyPr/>
          <a:lstStyle/>
          <a:p>
            <a:r>
              <a:rPr lang="de-DE"/>
              <a:t>Bei Bedarf können wir gerne näher auf den Code eingehen.</a:t>
            </a:r>
          </a:p>
        </p:txBody>
      </p:sp>
    </p:spTree>
    <p:extLst>
      <p:ext uri="{BB962C8B-B14F-4D97-AF65-F5344CB8AC3E}">
        <p14:creationId xmlns:p14="http://schemas.microsoft.com/office/powerpoint/2010/main" val="282414213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4d4f4c4-2b3e-4922-8805-528ba7a130a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919105FFA9D24EA29DA92E4BAE0F6D" ma:contentTypeVersion="9" ma:contentTypeDescription="Ein neues Dokument erstellen." ma:contentTypeScope="" ma:versionID="c5f3dcda09ee87f7c1472cf4c9361746">
  <xsd:schema xmlns:xsd="http://www.w3.org/2001/XMLSchema" xmlns:xs="http://www.w3.org/2001/XMLSchema" xmlns:p="http://schemas.microsoft.com/office/2006/metadata/properties" xmlns:ns3="64d4f4c4-2b3e-4922-8805-528ba7a130aa" xmlns:ns4="80ea3703-f672-4c39-8e7b-6098df378bba" targetNamespace="http://schemas.microsoft.com/office/2006/metadata/properties" ma:root="true" ma:fieldsID="586a1eeeeb3b1baab4bffa54ab0ae5d2" ns3:_="" ns4:_="">
    <xsd:import namespace="64d4f4c4-2b3e-4922-8805-528ba7a130aa"/>
    <xsd:import namespace="80ea3703-f672-4c39-8e7b-6098df378bb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4f4c4-2b3e-4922-8805-528ba7a130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ea3703-f672-4c39-8e7b-6098df378bba" elementFormDefault="qualified">
    <xsd:import namespace="http://schemas.microsoft.com/office/2006/documentManagement/types"/>
    <xsd:import namespace="http://schemas.microsoft.com/office/infopath/2007/PartnerControls"/>
    <xsd:element name="SharedWithUsers" ma:index="13"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Freigegeben für - Details" ma:internalName="SharedWithDetails" ma:readOnly="true">
      <xsd:simpleType>
        <xsd:restriction base="dms:Note">
          <xsd:maxLength value="255"/>
        </xsd:restriction>
      </xsd:simpleType>
    </xsd:element>
    <xsd:element name="SharingHintHash" ma:index="15"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C109EE-37A8-4C60-A7CC-77893CB5B340}">
  <ds:schemaRefs>
    <ds:schemaRef ds:uri="http://purl.org/dc/terms/"/>
    <ds:schemaRef ds:uri="http://purl.org/dc/dcmitype/"/>
    <ds:schemaRef ds:uri="64d4f4c4-2b3e-4922-8805-528ba7a130aa"/>
    <ds:schemaRef ds:uri="http://schemas.openxmlformats.org/package/2006/metadata/core-properties"/>
    <ds:schemaRef ds:uri="http://schemas.microsoft.com/office/2006/metadata/properties"/>
    <ds:schemaRef ds:uri="http://schemas.microsoft.com/office/2006/documentManagement/types"/>
    <ds:schemaRef ds:uri="http://schemas.microsoft.com/office/infopath/2007/PartnerControls"/>
    <ds:schemaRef ds:uri="80ea3703-f672-4c39-8e7b-6098df378bba"/>
    <ds:schemaRef ds:uri="http://www.w3.org/XML/1998/namespace"/>
    <ds:schemaRef ds:uri="http://purl.org/dc/elements/1.1/"/>
  </ds:schemaRefs>
</ds:datastoreItem>
</file>

<file path=customXml/itemProps2.xml><?xml version="1.0" encoding="utf-8"?>
<ds:datastoreItem xmlns:ds="http://schemas.openxmlformats.org/officeDocument/2006/customXml" ds:itemID="{A35B3CC7-0C8C-44D2-831E-6CB44CE2D5FF}">
  <ds:schemaRefs>
    <ds:schemaRef ds:uri="64d4f4c4-2b3e-4922-8805-528ba7a130aa"/>
    <ds:schemaRef ds:uri="80ea3703-f672-4c39-8e7b-6098df378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D18944F-3E8D-4412-8E14-77A651D140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1129</Words>
  <Application>Microsoft Office PowerPoint</Application>
  <PresentationFormat>Breitbild</PresentationFormat>
  <Paragraphs>68</Paragraphs>
  <Slides>10</Slides>
  <Notes>9</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Aptos</vt:lpstr>
      <vt:lpstr>Aptos Display</vt:lpstr>
      <vt:lpstr>Arial</vt:lpstr>
      <vt:lpstr>Office</vt:lpstr>
      <vt:lpstr>EP Audit 3</vt:lpstr>
      <vt:lpstr>Wiederholung</vt:lpstr>
      <vt:lpstr>Vorstellung: Rapid Prototype</vt:lpstr>
      <vt:lpstr>Übersicht durchgeführter PoCs</vt:lpstr>
      <vt:lpstr>Code Inspektion</vt:lpstr>
      <vt:lpstr>Interaktionsmodell</vt:lpstr>
      <vt:lpstr>Projektplan – Änderungs-Übersicht </vt:lpstr>
      <vt:lpstr>Ausblick</vt:lpstr>
      <vt:lpstr>Ausblick</vt:lpstr>
      <vt:lpstr>Fragen?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 Schlegel (rschlege)</dc:creator>
  <cp:lastModifiedBy>Robin Schlegel (rschlege)</cp:lastModifiedBy>
  <cp:revision>2</cp:revision>
  <dcterms:created xsi:type="dcterms:W3CDTF">2026-01-15T14:07:26Z</dcterms:created>
  <dcterms:modified xsi:type="dcterms:W3CDTF">2026-01-15T22:40:11Z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0x010100BC919105FFA9D24EA29DA92E4BAE0F6D</vt:lpwstr>
  </property>
</Properties>
</file>